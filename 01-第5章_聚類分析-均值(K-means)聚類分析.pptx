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62"/>
  </p:notesMasterIdLst>
  <p:handoutMasterIdLst>
    <p:handoutMasterId r:id="rId63"/>
  </p:handoutMasterIdLst>
  <p:sldIdLst>
    <p:sldId id="282" r:id="rId2"/>
    <p:sldId id="283" r:id="rId3"/>
    <p:sldId id="285" r:id="rId4"/>
    <p:sldId id="286" r:id="rId5"/>
    <p:sldId id="335" r:id="rId6"/>
    <p:sldId id="287" r:id="rId7"/>
    <p:sldId id="288" r:id="rId8"/>
    <p:sldId id="289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339" r:id="rId18"/>
    <p:sldId id="337" r:id="rId19"/>
    <p:sldId id="338" r:id="rId20"/>
    <p:sldId id="341" r:id="rId21"/>
    <p:sldId id="336" r:id="rId22"/>
    <p:sldId id="342" r:id="rId23"/>
    <p:sldId id="340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43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318" r:id="rId45"/>
    <p:sldId id="319" r:id="rId46"/>
    <p:sldId id="320" r:id="rId47"/>
    <p:sldId id="321" r:id="rId48"/>
    <p:sldId id="322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  <p:sldId id="332" r:id="rId59"/>
    <p:sldId id="333" r:id="rId60"/>
    <p:sldId id="334" r:id="rId61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0066"/>
    <a:srgbClr val="FF66CC"/>
    <a:srgbClr val="800000"/>
    <a:srgbClr val="996633"/>
    <a:srgbClr val="669900"/>
    <a:srgbClr val="FF3300"/>
    <a:srgbClr val="343434"/>
    <a:srgbClr val="0033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0" autoAdjust="0"/>
    <p:restoredTop sz="96727" autoAdjust="0"/>
  </p:normalViewPr>
  <p:slideViewPr>
    <p:cSldViewPr>
      <p:cViewPr varScale="1">
        <p:scale>
          <a:sx n="117" d="100"/>
          <a:sy n="117" d="100"/>
        </p:scale>
        <p:origin x="872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9804"/>
    </p:cViewPr>
  </p:sorterViewPr>
  <p:notesViewPr>
    <p:cSldViewPr>
      <p:cViewPr varScale="1">
        <p:scale>
          <a:sx n="58" d="100"/>
          <a:sy n="58" d="100"/>
        </p:scale>
        <p:origin x="-1764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47178D8-FEFD-450A-944D-365F56570C8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103399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7BE1B-9015-48F9-82AF-E00A58196DAB}" type="datetimeFigureOut">
              <a:rPr lang="zh-TW" altLang="en-US" smtClean="0"/>
              <a:t>2026/9/20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4FA67-A4B9-48A4-85F2-E5533334A24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285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8839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530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4FA67-A4B9-48A4-85F2-E5533334A24A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05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algn="ctr" eaLnBrk="1" hangingPunct="1"/>
              <a:endParaRPr lang="zh-TW" altLang="zh-TW" sz="2400">
                <a:latin typeface="Times New Roman" pitchFamily="18" charset="0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algn="ctr" eaLnBrk="1" hangingPunct="1"/>
              <a:endParaRPr lang="zh-TW" altLang="zh-TW" sz="2400">
                <a:latin typeface="Times New Roman" pitchFamily="18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</p:grpSp>
      <p:sp>
        <p:nvSpPr>
          <p:cNvPr id="18842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188428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10" name="Rectangle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pPr>
              <a:defRPr/>
            </a:pPr>
            <a:fld id="{F2EFDEF8-9B9A-4253-A89D-7452AC486D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490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5BFDA-AE0C-43A3-B229-917851F13E3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83280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A4AA5-EE2E-4AF6-9E30-A02244918FA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53935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27088" y="2349500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49800" y="2349500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5987D-43E9-47CF-9D3F-2647BDFAA3C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3371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27570-56A3-4F54-8C13-2DD0D2DAEF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703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5BBF4-89AE-4E89-AA3E-65BBEA9B378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9383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F0A5A-4180-45AD-B642-D7C029880B8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58915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EA68-3D47-4556-9EC1-F6FB992C691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395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F92D0-8C6F-4C1A-AB2E-EF452AFE66B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65346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E25D2-EBD8-4275-BA73-480679771C4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9535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97650" y="188913"/>
            <a:ext cx="1922463" cy="58848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27088" y="188913"/>
            <a:ext cx="5618162" cy="58848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39901-D3DE-457B-BE74-2A8EA90A514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88884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900113" y="188913"/>
            <a:ext cx="69850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827088" y="2349500"/>
            <a:ext cx="3770312" cy="17859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749800" y="2349500"/>
            <a:ext cx="3770313" cy="17859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827088" y="4287838"/>
            <a:ext cx="3770312" cy="178593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49800" y="4287838"/>
            <a:ext cx="3770313" cy="178593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19B016-30B0-4840-AF9C-1892892AE57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0960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"/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1035" name="Rectangle 4"/>
            <p:cNvSpPr>
              <a:spLocks noChangeArrowheads="1"/>
            </p:cNvSpPr>
            <p:nvPr userDrawn="1"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036" name="Freeform 5"/>
            <p:cNvSpPr>
              <a:spLocks/>
            </p:cNvSpPr>
            <p:nvPr userDrawn="1"/>
          </p:nvSpPr>
          <p:spPr bwMode="auto">
            <a:xfrm>
              <a:off x="288" y="0"/>
              <a:ext cx="1728" cy="735"/>
            </a:xfrm>
            <a:custGeom>
              <a:avLst/>
              <a:gdLst>
                <a:gd name="T0" fmla="*/ 1728 w 1728"/>
                <a:gd name="T1" fmla="*/ 0 h 735"/>
                <a:gd name="T2" fmla="*/ 1728 w 1728"/>
                <a:gd name="T3" fmla="*/ 480 h 735"/>
                <a:gd name="T4" fmla="*/ 380 w 1728"/>
                <a:gd name="T5" fmla="*/ 482 h 735"/>
                <a:gd name="T6" fmla="*/ 354 w 1728"/>
                <a:gd name="T7" fmla="*/ 480 h 735"/>
                <a:gd name="T8" fmla="*/ 308 w 1728"/>
                <a:gd name="T9" fmla="*/ 489 h 735"/>
                <a:gd name="T10" fmla="*/ 246 w 1728"/>
                <a:gd name="T11" fmla="*/ 531 h 735"/>
                <a:gd name="T12" fmla="*/ 206 w 1728"/>
                <a:gd name="T13" fmla="*/ 597 h 735"/>
                <a:gd name="T14" fmla="*/ 192 w 1728"/>
                <a:gd name="T15" fmla="*/ 666 h 735"/>
                <a:gd name="T16" fmla="*/ 192 w 1728"/>
                <a:gd name="T17" fmla="*/ 735 h 735"/>
                <a:gd name="T18" fmla="*/ 0 w 1728"/>
                <a:gd name="T19" fmla="*/ 735 h 735"/>
                <a:gd name="T20" fmla="*/ 0 w 1728"/>
                <a:gd name="T21" fmla="*/ 480 h 735"/>
                <a:gd name="T22" fmla="*/ 0 w 1728"/>
                <a:gd name="T23" fmla="*/ 0 h 735"/>
                <a:gd name="T24" fmla="*/ 1728 w 1728"/>
                <a:gd name="T25" fmla="*/ 0 h 73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8" h="735">
                  <a:moveTo>
                    <a:pt x="1728" y="0"/>
                  </a:moveTo>
                  <a:lnTo>
                    <a:pt x="1728" y="480"/>
                  </a:lnTo>
                  <a:lnTo>
                    <a:pt x="380" y="482"/>
                  </a:lnTo>
                  <a:lnTo>
                    <a:pt x="354" y="480"/>
                  </a:lnTo>
                  <a:lnTo>
                    <a:pt x="308" y="489"/>
                  </a:lnTo>
                  <a:cubicBezTo>
                    <a:pt x="290" y="498"/>
                    <a:pt x="263" y="513"/>
                    <a:pt x="246" y="531"/>
                  </a:cubicBezTo>
                  <a:cubicBezTo>
                    <a:pt x="229" y="549"/>
                    <a:pt x="215" y="574"/>
                    <a:pt x="206" y="597"/>
                  </a:cubicBezTo>
                  <a:cubicBezTo>
                    <a:pt x="197" y="620"/>
                    <a:pt x="194" y="643"/>
                    <a:pt x="192" y="666"/>
                  </a:cubicBezTo>
                  <a:lnTo>
                    <a:pt x="192" y="735"/>
                  </a:lnTo>
                  <a:lnTo>
                    <a:pt x="0" y="735"/>
                  </a:lnTo>
                  <a:lnTo>
                    <a:pt x="0" y="480"/>
                  </a:lnTo>
                  <a:lnTo>
                    <a:pt x="0" y="0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  <p:sp>
        <p:nvSpPr>
          <p:cNvPr id="1027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188913"/>
            <a:ext cx="69850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  </a:t>
            </a:r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7088" y="23495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874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4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kumimoji="0" sz="26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28849DF-7452-4CF2-888F-2E7BD110586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890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FF0000"/>
        </a:buClr>
        <a:buSzPct val="50000"/>
        <a:buFont typeface="Wingdings" pitchFamily="2" charset="2"/>
        <a:defRPr kumimoji="1" sz="4000" b="1">
          <a:solidFill>
            <a:schemeClr val="tx2"/>
          </a:solidFill>
          <a:latin typeface="Arial" charset="0"/>
          <a:ea typeface="標楷體" pitchFamily="65" charset="-120"/>
          <a:cs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Ø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Ø"/>
        <a:defRPr kumimoji="1" sz="2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u"/>
        <a:defRPr kumimoji="1" sz="2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4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slide" Target="slide27.xml"/><Relationship Id="rId4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7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aifreeblog.herokuapp.com/posts/54/data_science_203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5.png"/><Relationship Id="rId4" Type="http://schemas.openxmlformats.org/officeDocument/2006/relationships/image" Target="../media/image2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emOAVm" TargetMode="Externa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reurl.cc/8pKvYj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xQbMvN" TargetMode="External"/><Relationship Id="rId2" Type="http://schemas.openxmlformats.org/officeDocument/2006/relationships/hyperlink" Target="https://reurl.cc/V1ZOj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url.cc/NR8dKx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zh-tw/office/sumxmy2-%E5%87%BD%E6%95%B8-9d144ac1-4d79-43de-b524-e2ecee23b299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43608" y="2564904"/>
            <a:ext cx="7879080" cy="18466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資料探勘：</a:t>
            </a:r>
            <a:r>
              <a:rPr lang="zh-TW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程序與</a:t>
            </a:r>
            <a:r>
              <a:rPr lang="zh-TW" altLang="en-US" sz="5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模式</a:t>
            </a:r>
            <a:endParaRPr lang="en-US" altLang="zh-TW" sz="5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800" b="1" dirty="0" smtClean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使用</a:t>
            </a:r>
            <a:r>
              <a:rPr lang="en-US" altLang="zh-TW" sz="4800" b="1" dirty="0" smtClean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4800" b="1" dirty="0" smtClean="0">
                <a:solidFill>
                  <a:srgbClr val="FF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實作</a:t>
            </a:r>
            <a:endParaRPr lang="zh-TW" altLang="en-US" sz="4800" b="1" dirty="0">
              <a:solidFill>
                <a:srgbClr val="FF33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19B016-30B0-4840-AF9C-1892892AE57B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9" name="Group 10"/>
          <p:cNvGrpSpPr>
            <a:grpSpLocks/>
          </p:cNvGrpSpPr>
          <p:nvPr/>
        </p:nvGrpSpPr>
        <p:grpSpPr bwMode="auto">
          <a:xfrm>
            <a:off x="250825" y="1341438"/>
            <a:ext cx="8604250" cy="142875"/>
            <a:chOff x="703" y="1525"/>
            <a:chExt cx="4859" cy="91"/>
          </a:xfrm>
        </p:grpSpPr>
        <p:sp>
          <p:nvSpPr>
            <p:cNvPr id="4102" name="AutoShape 11"/>
            <p:cNvSpPr>
              <a:spLocks noChangeArrowheads="1"/>
            </p:cNvSpPr>
            <p:nvPr/>
          </p:nvSpPr>
          <p:spPr bwMode="auto">
            <a:xfrm>
              <a:off x="5284" y="1525"/>
              <a:ext cx="278" cy="91"/>
            </a:xfrm>
            <a:prstGeom prst="flowChartDelay">
              <a:avLst/>
            </a:prstGeom>
            <a:solidFill>
              <a:srgbClr val="3366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grpSp>
          <p:nvGrpSpPr>
            <p:cNvPr id="4103" name="Group 12"/>
            <p:cNvGrpSpPr>
              <a:grpSpLocks/>
            </p:cNvGrpSpPr>
            <p:nvPr/>
          </p:nvGrpSpPr>
          <p:grpSpPr bwMode="auto">
            <a:xfrm>
              <a:off x="703" y="1525"/>
              <a:ext cx="4614" cy="91"/>
              <a:chOff x="157" y="1162"/>
              <a:chExt cx="4614" cy="91"/>
            </a:xfrm>
          </p:grpSpPr>
          <p:sp>
            <p:nvSpPr>
              <p:cNvPr id="4104" name="AutoShape 13"/>
              <p:cNvSpPr>
                <a:spLocks noChangeArrowheads="1"/>
              </p:cNvSpPr>
              <p:nvPr/>
            </p:nvSpPr>
            <p:spPr bwMode="auto">
              <a:xfrm rot="10800000" flipH="1">
                <a:off x="394" y="1162"/>
                <a:ext cx="4377" cy="91"/>
              </a:xfrm>
              <a:prstGeom prst="roundRect">
                <a:avLst>
                  <a:gd name="adj" fmla="val 0"/>
                </a:avLst>
              </a:prstGeom>
              <a:solidFill>
                <a:srgbClr val="33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4105" name="AutoShape 14"/>
              <p:cNvSpPr>
                <a:spLocks noChangeArrowheads="1"/>
              </p:cNvSpPr>
              <p:nvPr/>
            </p:nvSpPr>
            <p:spPr bwMode="auto">
              <a:xfrm rot="10800000">
                <a:off x="157" y="1162"/>
                <a:ext cx="246" cy="91"/>
              </a:xfrm>
              <a:prstGeom prst="flowChartDelay">
                <a:avLst/>
              </a:prstGeom>
              <a:solidFill>
                <a:srgbClr val="3366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</p:grpSp>
      </p:grpSp>
      <p:sp>
        <p:nvSpPr>
          <p:cNvPr id="4100" name="文字方塊 1"/>
          <p:cNvSpPr txBox="1">
            <a:spLocks noChangeArrowheads="1"/>
          </p:cNvSpPr>
          <p:nvPr/>
        </p:nvSpPr>
        <p:spPr bwMode="auto">
          <a:xfrm>
            <a:off x="18926" y="38234"/>
            <a:ext cx="9521626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03388" indent="-1703388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44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第</a:t>
            </a:r>
            <a:r>
              <a:rPr lang="zh-TW" altLang="en-US" sz="44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５</a:t>
            </a:r>
            <a:r>
              <a:rPr lang="zh-TW" altLang="en-US" sz="44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rPr>
              <a:t>章 </a:t>
            </a:r>
            <a:r>
              <a:rPr lang="zh-TW" altLang="en-US" sz="4400" b="1" dirty="0" smtClean="0">
                <a:latin typeface="微軟正黑體" pitchFamily="34" charset="-120"/>
                <a:ea typeface="微軟正黑體" pitchFamily="34" charset="-120"/>
              </a:rPr>
              <a:t>聚</a:t>
            </a:r>
            <a:r>
              <a:rPr lang="zh-TW" altLang="en-US" sz="4400" b="1" dirty="0">
                <a:latin typeface="微軟正黑體" pitchFamily="34" charset="-120"/>
                <a:ea typeface="微軟正黑體" pitchFamily="34" charset="-120"/>
              </a:rPr>
              <a:t>類</a:t>
            </a:r>
            <a:r>
              <a:rPr lang="zh-TW" altLang="en-US" sz="4400" b="1" dirty="0" smtClean="0">
                <a:latin typeface="微軟正黑體" pitchFamily="34" charset="-120"/>
                <a:ea typeface="微軟正黑體" pitchFamily="34" charset="-120"/>
              </a:rPr>
              <a:t>分析（一）：均值聚類分</a:t>
            </a:r>
            <a:endParaRPr lang="en-US" altLang="zh-TW" sz="4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eaLnBrk="1" hangingPunct="1"/>
            <a:r>
              <a:rPr lang="zh-TW" altLang="en-US" sz="4400" b="1" dirty="0" smtClean="0">
                <a:latin typeface="微軟正黑體" pitchFamily="34" charset="-120"/>
                <a:ea typeface="微軟正黑體" pitchFamily="34" charset="-120"/>
              </a:rPr>
              <a:t>析</a:t>
            </a:r>
            <a:endParaRPr lang="en-US" altLang="zh-TW" sz="44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  <p:sp>
        <p:nvSpPr>
          <p:cNvPr id="10" name="文字方塊 1"/>
          <p:cNvSpPr txBox="1">
            <a:spLocks noChangeArrowheads="1"/>
          </p:cNvSpPr>
          <p:nvPr/>
        </p:nvSpPr>
        <p:spPr bwMode="auto">
          <a:xfrm>
            <a:off x="827087" y="1772816"/>
            <a:ext cx="7781847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2" action="ppaction://hlinksldjump"/>
              </a:rPr>
              <a:t>5-1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2" action="ppaction://hlinksldjump"/>
              </a:rPr>
              <a:t>模型架構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5-2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模型建立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5-3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實例一：旅行社個案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800000"/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5-4 </a:t>
            </a:r>
            <a:r>
              <a:rPr lang="zh-TW" altLang="en-US" sz="2400" dirty="0">
                <a:solidFill>
                  <a:srgbClr val="800000"/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實例二：書局行銷個案</a:t>
            </a:r>
            <a:endParaRPr lang="zh-TW" altLang="en-US" sz="2400" dirty="0">
              <a:solidFill>
                <a:srgbClr val="8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800000"/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5-5 </a:t>
            </a:r>
            <a:r>
              <a:rPr lang="zh-TW" altLang="en-US" sz="2400" dirty="0">
                <a:solidFill>
                  <a:srgbClr val="800000"/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實例三：公民意見分析個案</a:t>
            </a:r>
            <a:endParaRPr lang="zh-TW" altLang="en-US" sz="2400" dirty="0">
              <a:solidFill>
                <a:srgbClr val="80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eaLnBrk="1" hangingPunct="1">
              <a:lnSpc>
                <a:spcPts val="32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實作單元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A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：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Excel 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資料探勘系統──均值聚類分析</a:t>
            </a:r>
            <a:endParaRPr lang="zh-TW" altLang="en-US" sz="2400" dirty="0">
              <a:ea typeface="新細明體" pitchFamily="18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35696" y="4725144"/>
            <a:ext cx="6120680" cy="20058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聚類</a:t>
            </a:r>
            <a:r>
              <a:rPr lang="zh-TW" altLang="en-US" dirty="0"/>
              <a:t>分析</a:t>
            </a:r>
            <a:r>
              <a:rPr lang="en-US" altLang="zh-TW" dirty="0" smtClean="0"/>
              <a:t>:</a:t>
            </a:r>
            <a:r>
              <a:rPr lang="zh-TW" altLang="en-US" dirty="0"/>
              <a:t>集</a:t>
            </a:r>
            <a:r>
              <a:rPr lang="zh-TW" altLang="en-US" dirty="0" smtClean="0"/>
              <a:t>群分析</a:t>
            </a:r>
            <a:r>
              <a:rPr lang="en-US" altLang="zh-TW" dirty="0"/>
              <a:t>(Clustering)</a:t>
            </a:r>
            <a:r>
              <a:rPr lang="zh-TW" altLang="en-US" dirty="0"/>
              <a:t>分</a:t>
            </a:r>
            <a:r>
              <a:rPr lang="zh-TW" altLang="en-US" dirty="0" smtClean="0"/>
              <a:t>群</a:t>
            </a:r>
            <a:endParaRPr lang="en-US" altLang="zh-TW" dirty="0" smtClean="0"/>
          </a:p>
          <a:p>
            <a:r>
              <a:rPr lang="en-US" altLang="zh-TW" dirty="0" smtClean="0"/>
              <a:t>A.</a:t>
            </a:r>
            <a:r>
              <a:rPr lang="zh-TW" altLang="en-US" dirty="0" smtClean="0"/>
              <a:t>均值</a:t>
            </a:r>
            <a:r>
              <a:rPr lang="en-US" altLang="zh-TW" dirty="0" smtClean="0"/>
              <a:t>(K-means)</a:t>
            </a:r>
          </a:p>
          <a:p>
            <a:r>
              <a:rPr lang="en-US" altLang="zh-TW" dirty="0" smtClean="0"/>
              <a:t>B.</a:t>
            </a:r>
            <a:r>
              <a:rPr lang="zh-TW" altLang="en-US" dirty="0" smtClean="0"/>
              <a:t>階層</a:t>
            </a:r>
            <a:r>
              <a:rPr lang="zh-TW" altLang="en-US" dirty="0"/>
              <a:t>聚類</a:t>
            </a:r>
            <a:r>
              <a:rPr lang="zh-TW" altLang="en-US" dirty="0" smtClean="0"/>
              <a:t>分析</a:t>
            </a:r>
            <a:r>
              <a:rPr lang="en-US" altLang="zh-TW" dirty="0" smtClean="0"/>
              <a:t>(Hierarchical Cluster Analysis)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註</a:t>
            </a:r>
            <a:r>
              <a:rPr lang="en-US" altLang="zh-TW" dirty="0" smtClean="0"/>
              <a:t>: mean </a:t>
            </a:r>
            <a:r>
              <a:rPr lang="zh-TW" altLang="en-US" dirty="0" smtClean="0"/>
              <a:t>意思</a:t>
            </a:r>
            <a:r>
              <a:rPr lang="en-US" altLang="zh-TW" dirty="0" smtClean="0"/>
              <a:t>, </a:t>
            </a:r>
            <a:r>
              <a:rPr lang="zh-TW" altLang="en-US" dirty="0" smtClean="0"/>
              <a:t>小氣</a:t>
            </a:r>
            <a:r>
              <a:rPr lang="en-US" altLang="zh-TW" dirty="0" smtClean="0"/>
              <a:t>, </a:t>
            </a:r>
            <a:r>
              <a:rPr lang="zh-TW" altLang="en-US" dirty="0" smtClean="0">
                <a:solidFill>
                  <a:schemeClr val="bg1"/>
                </a:solidFill>
              </a:rPr>
              <a:t>中間的</a:t>
            </a:r>
            <a:endParaRPr lang="en-US" altLang="zh-TW" dirty="0" smtClean="0">
              <a:solidFill>
                <a:schemeClr val="bg1"/>
              </a:solidFill>
            </a:endParaRPr>
          </a:p>
          <a:p>
            <a:endParaRPr lang="en-US" altLang="zh-TW" dirty="0">
              <a:solidFill>
                <a:schemeClr val="bg1"/>
              </a:solidFill>
            </a:endParaRPr>
          </a:p>
          <a:p>
            <a:r>
              <a:rPr lang="zh-TW" altLang="en-US" b="1" dirty="0" smtClean="0"/>
              <a:t>屬於</a:t>
            </a:r>
            <a:r>
              <a:rPr lang="en-US" altLang="zh-TW" b="1" dirty="0" smtClean="0"/>
              <a:t>: </a:t>
            </a:r>
            <a:r>
              <a:rPr lang="zh-TW" altLang="en-US" b="1" dirty="0" smtClean="0"/>
              <a:t>非</a:t>
            </a:r>
            <a:r>
              <a:rPr lang="zh-TW" altLang="en-US" b="1" dirty="0"/>
              <a:t>監督學習 </a:t>
            </a:r>
            <a:r>
              <a:rPr lang="en-US" altLang="zh-TW" b="1" dirty="0"/>
              <a:t>(unsupervised learning)</a:t>
            </a:r>
            <a:endParaRPr lang="zh-TW" altLang="en-US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FF0000"/>
                </a:solidFill>
                <a:latin typeface="標楷體" panose="03000509000000000000" pitchFamily="65" charset="-120"/>
              </a:rPr>
              <a:t>5-1 </a:t>
            </a:r>
            <a:r>
              <a:rPr lang="zh-TW" altLang="en-US" sz="4000" b="1" dirty="0">
                <a:solidFill>
                  <a:srgbClr val="FF0000"/>
                </a:solidFill>
                <a:latin typeface="標楷體" panose="03000509000000000000" pitchFamily="65" charset="-120"/>
              </a:rPr>
              <a:t>模型架構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8" t="40086" r="31650" b="21735"/>
          <a:stretch/>
        </p:blipFill>
        <p:spPr bwMode="auto">
          <a:xfrm>
            <a:off x="899592" y="1734170"/>
            <a:ext cx="7920000" cy="308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070619" y="4841608"/>
            <a:ext cx="77917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5-1(a), 5-1(b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學生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「管理學」與「程式設計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」課程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成績（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三個聚類）</a:t>
            </a:r>
          </a:p>
        </p:txBody>
      </p:sp>
      <p:sp>
        <p:nvSpPr>
          <p:cNvPr id="3" name="矩形 2"/>
          <p:cNvSpPr/>
          <p:nvPr/>
        </p:nvSpPr>
        <p:spPr>
          <a:xfrm>
            <a:off x="2267744" y="895339"/>
            <a:ext cx="5906206" cy="73346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某系有</a:t>
            </a:r>
            <a:r>
              <a:rPr lang="en-US" altLang="zh-TW" dirty="0" smtClean="0"/>
              <a:t>100</a:t>
            </a:r>
            <a:r>
              <a:rPr lang="zh-TW" altLang="en-US" dirty="0" smtClean="0"/>
              <a:t>名學生其管理學及程式設計成績如圖</a:t>
            </a:r>
            <a:r>
              <a:rPr lang="en-US" altLang="zh-TW" dirty="0" smtClean="0"/>
              <a:t>5-1(a)</a:t>
            </a:r>
          </a:p>
          <a:p>
            <a:r>
              <a:rPr lang="zh-TW" altLang="en-US" dirty="0" smtClean="0"/>
              <a:t>明顯存在三個聚類</a:t>
            </a:r>
            <a:r>
              <a:rPr lang="zh-TW" altLang="en-US" dirty="0"/>
              <a:t>如圖</a:t>
            </a:r>
            <a:r>
              <a:rPr lang="en-US" altLang="zh-TW" dirty="0" smtClean="0"/>
              <a:t>5-1(b)</a:t>
            </a:r>
            <a:endParaRPr lang="en-US" altLang="zh-TW" dirty="0"/>
          </a:p>
        </p:txBody>
      </p:sp>
      <p:sp>
        <p:nvSpPr>
          <p:cNvPr id="8" name="矩形 7"/>
          <p:cNvSpPr/>
          <p:nvPr/>
        </p:nvSpPr>
        <p:spPr>
          <a:xfrm>
            <a:off x="806327" y="5497397"/>
            <a:ext cx="4287068" cy="5806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>
                <a:latin typeface="+mn-ea"/>
              </a:rPr>
              <a:t>歐</a:t>
            </a:r>
            <a:r>
              <a:rPr lang="zh-TW" altLang="zh-TW" sz="3200" dirty="0" smtClean="0">
                <a:latin typeface="+mn-ea"/>
              </a:rPr>
              <a:t>幾</a:t>
            </a:r>
            <a:r>
              <a:rPr lang="zh-TW" altLang="zh-TW" sz="3200" dirty="0">
                <a:latin typeface="+mn-ea"/>
              </a:rPr>
              <a:t>里</a:t>
            </a:r>
            <a:r>
              <a:rPr lang="zh-TW" altLang="zh-TW" sz="3200" dirty="0" smtClean="0">
                <a:latin typeface="+mn-ea"/>
              </a:rPr>
              <a:t>得距離</a:t>
            </a:r>
            <a:endParaRPr lang="zh-TW" altLang="zh-TW" sz="3200" dirty="0">
              <a:latin typeface="+mn-ea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847" y="5511365"/>
            <a:ext cx="3857143" cy="1237866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14" name="矩形 13"/>
          <p:cNvSpPr/>
          <p:nvPr/>
        </p:nvSpPr>
        <p:spPr>
          <a:xfrm>
            <a:off x="806327" y="6172456"/>
            <a:ext cx="4287068" cy="576775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</a:t>
            </a:r>
            <a:r>
              <a:rPr lang="zh-TW" altLang="en-US" dirty="0" smtClean="0"/>
              <a:t>點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</a:t>
            </a:r>
            <a:r>
              <a:rPr lang="en-US" altLang="zh-TW" i="1" dirty="0" smtClean="0"/>
              <a:t>y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)</a:t>
            </a:r>
            <a:r>
              <a:rPr lang="zh-TW" altLang="en-US" dirty="0" smtClean="0"/>
              <a:t>與</a:t>
            </a:r>
            <a:r>
              <a:rPr lang="en-US" altLang="zh-TW" dirty="0" smtClean="0"/>
              <a:t>B</a:t>
            </a:r>
            <a:r>
              <a:rPr lang="zh-TW" altLang="en-US" dirty="0" smtClean="0"/>
              <a:t>點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x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</a:t>
            </a:r>
            <a:r>
              <a:rPr lang="en-US" altLang="zh-TW" i="1" dirty="0" smtClean="0"/>
              <a:t>y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)</a:t>
            </a:r>
            <a:r>
              <a:rPr lang="zh-TW" altLang="en-US" dirty="0" smtClean="0"/>
              <a:t>之間</a:t>
            </a:r>
            <a:r>
              <a:rPr lang="zh-TW" altLang="en-US" dirty="0"/>
              <a:t>的歐氏距離</a:t>
            </a:r>
          </a:p>
        </p:txBody>
      </p:sp>
    </p:spTree>
    <p:extLst>
      <p:ext uri="{BB962C8B-B14F-4D97-AF65-F5344CB8AC3E}">
        <p14:creationId xmlns:p14="http://schemas.microsoft.com/office/powerpoint/2010/main" val="344305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864096" y="836712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一、聚類分析的定義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57" t="54526" r="25238" b="35129"/>
          <a:stretch/>
        </p:blipFill>
        <p:spPr bwMode="auto">
          <a:xfrm>
            <a:off x="961940" y="1592135"/>
            <a:ext cx="2758966" cy="756745"/>
          </a:xfrm>
          <a:prstGeom prst="rect">
            <a:avLst/>
          </a:prstGeom>
          <a:noFill/>
          <a:ln w="158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897265" y="2607295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二、聚類分析的應用</a:t>
            </a:r>
          </a:p>
        </p:txBody>
      </p:sp>
      <p:sp>
        <p:nvSpPr>
          <p:cNvPr id="11" name="矩形 10"/>
          <p:cNvSpPr/>
          <p:nvPr/>
        </p:nvSpPr>
        <p:spPr>
          <a:xfrm>
            <a:off x="1475656" y="309654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顧客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分群</a:t>
            </a:r>
          </a:p>
        </p:txBody>
      </p:sp>
      <p:sp>
        <p:nvSpPr>
          <p:cNvPr id="8" name="矩形 7"/>
          <p:cNvSpPr/>
          <p:nvPr/>
        </p:nvSpPr>
        <p:spPr>
          <a:xfrm>
            <a:off x="1043608" y="3996930"/>
            <a:ext cx="7737117" cy="523220"/>
          </a:xfrm>
          <a:prstGeom prst="rect">
            <a:avLst/>
          </a:prstGeom>
          <a:solidFill>
            <a:srgbClr val="0000FF"/>
          </a:solidFill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找出現有顧客的群集特性以建立市場區隔的基礎</a:t>
            </a:r>
          </a:p>
        </p:txBody>
      </p:sp>
      <p:sp>
        <p:nvSpPr>
          <p:cNvPr id="2" name="矩形 1"/>
          <p:cNvSpPr/>
          <p:nvPr/>
        </p:nvSpPr>
        <p:spPr>
          <a:xfrm>
            <a:off x="1043608" y="4653136"/>
            <a:ext cx="7767645" cy="1723454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dirty="0" smtClean="0"/>
              <a:t>從龐大的顧客資料中，依顧客屬性（性別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年齡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居住地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收入職業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學歷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消費額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消費地點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/>
              <a:t>消費商品等</a:t>
            </a:r>
            <a:r>
              <a:rPr lang="en-US" altLang="zh-TW" sz="2400" dirty="0" smtClean="0"/>
              <a:t>)</a:t>
            </a:r>
          </a:p>
          <a:p>
            <a:pPr algn="ctr"/>
            <a:r>
              <a:rPr lang="zh-TW" altLang="en-US" sz="2400" dirty="0" smtClean="0">
                <a:solidFill>
                  <a:srgbClr val="FF0000"/>
                </a:solidFill>
              </a:rPr>
              <a:t>分成特定的群集，以供行銷人員擬定有效的行銷策略。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645" y="965918"/>
            <a:ext cx="5178003" cy="224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2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四、聚類分析的</a:t>
            </a:r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方法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088" y="1628800"/>
            <a:ext cx="8137400" cy="4444975"/>
          </a:xfrm>
        </p:spPr>
        <p:txBody>
          <a:bodyPr/>
          <a:lstStyle/>
          <a:p>
            <a:r>
              <a:rPr lang="en-US" altLang="zh-TW" dirty="0" smtClean="0"/>
              <a:t>1.</a:t>
            </a:r>
            <a:r>
              <a:rPr lang="zh-TW" altLang="en-US" dirty="0" smtClean="0">
                <a:solidFill>
                  <a:srgbClr val="FF0000"/>
                </a:solidFill>
              </a:rPr>
              <a:t>分割法</a:t>
            </a:r>
            <a:r>
              <a:rPr lang="en-US" altLang="zh-TW" dirty="0" smtClean="0">
                <a:solidFill>
                  <a:srgbClr val="FF0000"/>
                </a:solidFill>
              </a:rPr>
              <a:t>(Partitioning Algorithms)</a:t>
            </a:r>
          </a:p>
          <a:p>
            <a:pPr lvl="1"/>
            <a:r>
              <a:rPr lang="zh-TW" altLang="en-US" dirty="0" smtClean="0"/>
              <a:t>產生</a:t>
            </a:r>
            <a:r>
              <a:rPr lang="zh-TW" altLang="en-US" dirty="0" smtClean="0">
                <a:solidFill>
                  <a:srgbClr val="0000FF"/>
                </a:solidFill>
              </a:rPr>
              <a:t>無層級結構</a:t>
            </a:r>
            <a:r>
              <a:rPr lang="zh-TW" altLang="en-US" dirty="0" smtClean="0"/>
              <a:t>的聚類，例如</a:t>
            </a:r>
            <a:r>
              <a:rPr lang="en-US" altLang="zh-TW" dirty="0" smtClean="0"/>
              <a:t>:</a:t>
            </a:r>
            <a:r>
              <a:rPr lang="zh-TW" altLang="en-US" dirty="0">
                <a:solidFill>
                  <a:srgbClr val="0000FF"/>
                </a:solidFill>
              </a:rPr>
              <a:t>均</a:t>
            </a:r>
            <a:r>
              <a:rPr lang="zh-TW" altLang="en-US" dirty="0" smtClean="0">
                <a:solidFill>
                  <a:srgbClr val="0000FF"/>
                </a:solidFill>
              </a:rPr>
              <a:t>值聚類分析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階層法</a:t>
            </a:r>
            <a:r>
              <a:rPr lang="en-US" altLang="zh-TW" dirty="0" smtClean="0"/>
              <a:t>(Hierarchical Algorithms)</a:t>
            </a:r>
          </a:p>
          <a:p>
            <a:pPr lvl="1"/>
            <a:r>
              <a:rPr lang="zh-TW" altLang="en-US" dirty="0" smtClean="0"/>
              <a:t>產生</a:t>
            </a:r>
            <a:r>
              <a:rPr lang="zh-TW" altLang="en-US" dirty="0" smtClean="0">
                <a:solidFill>
                  <a:srgbClr val="0000FF"/>
                </a:solidFill>
              </a:rPr>
              <a:t>具層級</a:t>
            </a:r>
            <a:r>
              <a:rPr lang="zh-TW" altLang="en-US" dirty="0">
                <a:solidFill>
                  <a:srgbClr val="0000FF"/>
                </a:solidFill>
              </a:rPr>
              <a:t>結構</a:t>
            </a:r>
            <a:r>
              <a:rPr lang="zh-TW" altLang="en-US" dirty="0"/>
              <a:t>的聚</a:t>
            </a:r>
            <a:r>
              <a:rPr lang="zh-TW" altLang="en-US" dirty="0" smtClean="0"/>
              <a:t>類，又分成二小類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a.</a:t>
            </a:r>
            <a:r>
              <a:rPr lang="zh-TW" altLang="en-US" dirty="0" smtClean="0"/>
              <a:t>分裂法：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少用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b.</a:t>
            </a:r>
            <a:r>
              <a:rPr lang="zh-TW" altLang="en-US" dirty="0" smtClean="0"/>
              <a:t>結合法：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視每一樣本為一個小聚類，逐次組合為較大聚類，直到單一聚類，例如：</a:t>
            </a:r>
            <a:r>
              <a:rPr lang="zh-TW" altLang="en-US" dirty="0" smtClean="0">
                <a:solidFill>
                  <a:srgbClr val="FF0000"/>
                </a:solidFill>
              </a:rPr>
              <a:t>分層聚類分析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509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864096" y="836712"/>
            <a:ext cx="508228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階層法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(Hierarchical Algorithms)</a:t>
            </a:r>
          </a:p>
          <a:p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3" t="37716" r="29722" b="27586"/>
          <a:stretch/>
        </p:blipFill>
        <p:spPr bwMode="auto">
          <a:xfrm>
            <a:off x="1115616" y="2060848"/>
            <a:ext cx="7920000" cy="2891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5576" y="6300028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5-2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階層法：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分裂法與結合法</a:t>
            </a:r>
          </a:p>
        </p:txBody>
      </p:sp>
    </p:spTree>
    <p:extLst>
      <p:ext uri="{BB962C8B-B14F-4D97-AF65-F5344CB8AC3E}">
        <p14:creationId xmlns:p14="http://schemas.microsoft.com/office/powerpoint/2010/main" val="238369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  <p:sp>
        <p:nvSpPr>
          <p:cNvPr id="7" name="矩形 6"/>
          <p:cNvSpPr/>
          <p:nvPr/>
        </p:nvSpPr>
        <p:spPr>
          <a:xfrm>
            <a:off x="864096" y="836712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五、聚類分析方法的要求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370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5-1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理想的聚類分析方法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應具備的性質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9" t="26724" r="39052" b="28017"/>
          <a:stretch/>
        </p:blipFill>
        <p:spPr bwMode="auto">
          <a:xfrm>
            <a:off x="973175" y="1700808"/>
            <a:ext cx="7920000" cy="3978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547664" y="6300028"/>
            <a:ext cx="504056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898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  <p:sp>
        <p:nvSpPr>
          <p:cNvPr id="6" name="AutoShape 3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5627" y="147837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六、聚類分析的資料結構</a:t>
            </a:r>
          </a:p>
        </p:txBody>
      </p:sp>
      <p:sp>
        <p:nvSpPr>
          <p:cNvPr id="8" name="矩形 7"/>
          <p:cNvSpPr/>
          <p:nvPr/>
        </p:nvSpPr>
        <p:spPr>
          <a:xfrm>
            <a:off x="766725" y="808786"/>
            <a:ext cx="50481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直接以 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樣本數據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呈現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6294" y="2836436"/>
            <a:ext cx="50481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以樣本間的 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呈現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5576" y="4911551"/>
            <a:ext cx="56637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矩陣</a:t>
            </a:r>
            <a:r>
              <a:rPr lang="en-US" altLang="zh-TW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以變數的 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相關係數</a:t>
            </a:r>
            <a:r>
              <a:rPr lang="en-US" altLang="zh-TW" sz="2400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來呈現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88" t="18195" r="49109" b="60905"/>
          <a:stretch/>
        </p:blipFill>
        <p:spPr bwMode="auto">
          <a:xfrm>
            <a:off x="2535435" y="1196752"/>
            <a:ext cx="2088000" cy="16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2" t="45375" r="49152" b="33153"/>
          <a:stretch/>
        </p:blipFill>
        <p:spPr bwMode="auto">
          <a:xfrm>
            <a:off x="2463435" y="3212976"/>
            <a:ext cx="2160000" cy="166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2" t="56112" r="49152" b="24892"/>
          <a:stretch/>
        </p:blipFill>
        <p:spPr bwMode="auto">
          <a:xfrm>
            <a:off x="2486509" y="5337055"/>
            <a:ext cx="2160000" cy="1476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5364088" y="1402767"/>
                <a:ext cx="3888432" cy="11221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性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別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年齡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年收入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年刷卡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$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45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60000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30000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20000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1402767"/>
                <a:ext cx="3888432" cy="11221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向右箭號 4"/>
          <p:cNvSpPr/>
          <p:nvPr/>
        </p:nvSpPr>
        <p:spPr>
          <a:xfrm>
            <a:off x="4646509" y="1652292"/>
            <a:ext cx="837128" cy="735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例如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497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1187624" y="3356992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80" t="32000" r="29588" b="27356"/>
          <a:stretch/>
        </p:blipFill>
        <p:spPr bwMode="auto">
          <a:xfrm>
            <a:off x="4966494" y="3164189"/>
            <a:ext cx="3532556" cy="3566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1"/>
          <p:cNvSpPr txBox="1">
            <a:spLocks noChangeArrowheads="1"/>
          </p:cNvSpPr>
          <p:nvPr/>
        </p:nvSpPr>
        <p:spPr bwMode="auto">
          <a:xfrm flipH="1">
            <a:off x="467544" y="960495"/>
            <a:ext cx="83550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zh-TW" altLang="en-US" sz="4000" b="1" dirty="0" smtClean="0">
                <a:solidFill>
                  <a:srgbClr val="0000FF"/>
                </a:solidFill>
                <a:latin typeface="標楷體" panose="03000509000000000000" pitchFamily="65" charset="-120"/>
              </a:rPr>
              <a:t>例題 </a:t>
            </a:r>
            <a:r>
              <a:rPr lang="en-US" altLang="zh-TW" sz="4000" b="1" dirty="0" smtClean="0">
                <a:solidFill>
                  <a:srgbClr val="0000FF"/>
                </a:solidFill>
                <a:latin typeface="標楷體" panose="03000509000000000000" pitchFamily="65" charset="-120"/>
              </a:rPr>
              <a:t>5-1 </a:t>
            </a:r>
            <a:r>
              <a:rPr lang="zh-TW" altLang="en-US" sz="4000" b="1" dirty="0">
                <a:solidFill>
                  <a:srgbClr val="0000FF"/>
                </a:solidFill>
                <a:latin typeface="標楷體" panose="03000509000000000000" pitchFamily="65" charset="-120"/>
              </a:rPr>
              <a:t>均</a:t>
            </a:r>
            <a:r>
              <a:rPr lang="zh-TW" altLang="en-US" sz="4000" b="1" dirty="0" smtClean="0">
                <a:solidFill>
                  <a:srgbClr val="0000FF"/>
                </a:solidFill>
                <a:latin typeface="標楷體" panose="03000509000000000000" pitchFamily="65" charset="-120"/>
              </a:rPr>
              <a:t>值聚類分析</a:t>
            </a:r>
            <a:endParaRPr lang="zh-TW" altLang="en-US" sz="4000" b="1" dirty="0">
              <a:solidFill>
                <a:srgbClr val="0000FF"/>
              </a:solidFill>
              <a:latin typeface="標楷體" panose="03000509000000000000" pitchFamily="65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9592" y="1628800"/>
            <a:ext cx="8064896" cy="104643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 smtClean="0"/>
              <a:t>某班級共有</a:t>
            </a:r>
            <a:r>
              <a:rPr lang="en-US" altLang="zh-TW" dirty="0" smtClean="0"/>
              <a:t>5</a:t>
            </a:r>
            <a:r>
              <a:rPr lang="zh-TW" altLang="en-US" dirty="0" smtClean="0"/>
              <a:t>位同學，本學期都只修</a:t>
            </a:r>
            <a:r>
              <a:rPr lang="en-US" altLang="zh-TW" dirty="0" smtClean="0"/>
              <a:t>:</a:t>
            </a:r>
            <a:r>
              <a:rPr lang="zh-TW" altLang="en-US" b="1" dirty="0" smtClean="0">
                <a:solidFill>
                  <a:srgbClr val="FFC000"/>
                </a:solidFill>
              </a:rPr>
              <a:t>管理學</a:t>
            </a:r>
            <a:r>
              <a:rPr lang="en-US" altLang="zh-TW" b="1" dirty="0" smtClean="0">
                <a:solidFill>
                  <a:srgbClr val="FFC000"/>
                </a:solidFill>
              </a:rPr>
              <a:t>( X1)</a:t>
            </a:r>
            <a:r>
              <a:rPr lang="zh-TW" altLang="en-US" dirty="0" smtClean="0"/>
              <a:t>及</a:t>
            </a:r>
            <a:r>
              <a:rPr lang="zh-TW" altLang="en-US" b="1" dirty="0" smtClean="0">
                <a:solidFill>
                  <a:srgbClr val="FFC000"/>
                </a:solidFill>
              </a:rPr>
              <a:t>程式設計</a:t>
            </a:r>
            <a:r>
              <a:rPr lang="en-US" altLang="zh-TW" b="1" dirty="0" smtClean="0">
                <a:solidFill>
                  <a:srgbClr val="FFC000"/>
                </a:solidFill>
              </a:rPr>
              <a:t>(X2)</a:t>
            </a:r>
            <a:r>
              <a:rPr lang="zh-TW" altLang="en-US" dirty="0" smtClean="0"/>
              <a:t>兩</a:t>
            </a:r>
            <a:r>
              <a:rPr lang="zh-TW" altLang="en-US" dirty="0"/>
              <a:t>個</a:t>
            </a:r>
            <a:r>
              <a:rPr lang="zh-TW" altLang="en-US" dirty="0" smtClean="0"/>
              <a:t>科目</a:t>
            </a:r>
            <a:endParaRPr lang="en-US" altLang="zh-TW" dirty="0" smtClean="0"/>
          </a:p>
          <a:p>
            <a:r>
              <a:rPr lang="zh-TW" altLang="en-US" dirty="0" smtClean="0"/>
              <a:t>為方便表示起見分別以</a:t>
            </a:r>
            <a:r>
              <a:rPr lang="en-US" altLang="zh-TW" dirty="0" smtClean="0"/>
              <a:t>X1</a:t>
            </a:r>
            <a:r>
              <a:rPr lang="zh-TW" altLang="en-US" dirty="0" smtClean="0"/>
              <a:t>及</a:t>
            </a:r>
            <a:r>
              <a:rPr lang="en-US" altLang="zh-TW" dirty="0" smtClean="0"/>
              <a:t>X2</a:t>
            </a:r>
            <a:r>
              <a:rPr lang="zh-TW" altLang="en-US" dirty="0" smtClean="0"/>
              <a:t>來表示</a:t>
            </a:r>
            <a:endParaRPr lang="en-US" altLang="zh-TW" dirty="0" smtClean="0"/>
          </a:p>
          <a:p>
            <a:r>
              <a:rPr lang="zh-TW" altLang="en-US" dirty="0">
                <a:solidFill>
                  <a:srgbClr val="0000FF"/>
                </a:solidFill>
              </a:rPr>
              <a:t>決定聚類的數目</a:t>
            </a:r>
            <a:r>
              <a:rPr lang="en-US" altLang="zh-TW" dirty="0" smtClean="0">
                <a:solidFill>
                  <a:srgbClr val="0000FF"/>
                </a:solidFill>
              </a:rPr>
              <a:t>k=2</a:t>
            </a:r>
            <a:r>
              <a:rPr lang="zh-TW" altLang="en-US" dirty="0" smtClean="0"/>
              <a:t>，試以均值聚類分析分群聚類之。</a:t>
            </a:r>
            <a:endParaRPr lang="zh-TW" altLang="en-US" dirty="0"/>
          </a:p>
        </p:txBody>
      </p:sp>
      <p:sp>
        <p:nvSpPr>
          <p:cNvPr id="8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algn="ctr"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FF0000"/>
                </a:solidFill>
                <a:latin typeface="標楷體" panose="03000509000000000000" pitchFamily="65" charset="-120"/>
              </a:rPr>
              <a:t>5-2 </a:t>
            </a:r>
            <a:r>
              <a:rPr lang="zh-TW" altLang="en-US" sz="4000" b="1" dirty="0">
                <a:solidFill>
                  <a:srgbClr val="FF0000"/>
                </a:solidFill>
                <a:latin typeface="標楷體" panose="03000509000000000000" pitchFamily="65" charset="-120"/>
              </a:rPr>
              <a:t>模型建立</a:t>
            </a:r>
          </a:p>
        </p:txBody>
      </p:sp>
    </p:spTree>
    <p:extLst>
      <p:ext uri="{BB962C8B-B14F-4D97-AF65-F5344CB8AC3E}">
        <p14:creationId xmlns:p14="http://schemas.microsoft.com/office/powerpoint/2010/main" val="339442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5" t="42127" r="65950" b="29691"/>
          <a:stretch/>
        </p:blipFill>
        <p:spPr bwMode="auto">
          <a:xfrm>
            <a:off x="3112033" y="3212977"/>
            <a:ext cx="1675991" cy="2376263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06" t="35894" r="29319" b="23617"/>
          <a:stretch/>
        </p:blipFill>
        <p:spPr bwMode="auto">
          <a:xfrm>
            <a:off x="5040052" y="2636912"/>
            <a:ext cx="3600000" cy="355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868347" y="1124744"/>
            <a:ext cx="7664093" cy="1152128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400" dirty="0" smtClean="0"/>
              <a:t>步驟</a:t>
            </a:r>
            <a:r>
              <a:rPr lang="en-US" altLang="zh-TW" sz="2400" dirty="0" smtClean="0"/>
              <a:t>1.</a:t>
            </a:r>
          </a:p>
          <a:p>
            <a:r>
              <a:rPr lang="zh-TW" altLang="en-US" sz="2400" dirty="0" smtClean="0">
                <a:solidFill>
                  <a:srgbClr val="FF3300"/>
                </a:solidFill>
              </a:rPr>
              <a:t> </a:t>
            </a:r>
            <a:r>
              <a:rPr lang="zh-TW" altLang="en-US" sz="2400" dirty="0" smtClean="0"/>
              <a:t>以</a:t>
            </a:r>
            <a:r>
              <a:rPr lang="zh-TW" altLang="en-US" sz="2400" dirty="0" smtClean="0">
                <a:solidFill>
                  <a:srgbClr val="FF0000"/>
                </a:solidFill>
              </a:rPr>
              <a:t>隨機</a:t>
            </a:r>
            <a:r>
              <a:rPr lang="zh-TW" altLang="en-US" sz="2400" dirty="0" smtClean="0"/>
              <a:t>的方式指定上述五個樣本分為二群</a:t>
            </a:r>
            <a:r>
              <a:rPr lang="en-US" altLang="zh-TW" sz="2400" dirty="0" smtClean="0"/>
              <a:t>:</a:t>
            </a:r>
            <a:r>
              <a:rPr lang="zh-TW" altLang="en-US" sz="2400" dirty="0" smtClean="0"/>
              <a:t>ＡＣＥ為</a:t>
            </a:r>
            <a:r>
              <a:rPr lang="zh-TW" altLang="en-US" sz="2400" dirty="0"/>
              <a:t>聚</a:t>
            </a:r>
            <a:r>
              <a:rPr lang="zh-TW" altLang="en-US" sz="2400" dirty="0" smtClean="0"/>
              <a:t>類</a:t>
            </a:r>
            <a:r>
              <a:rPr lang="en-US" altLang="zh-TW" sz="2400" dirty="0" smtClean="0"/>
              <a:t>1</a:t>
            </a:r>
            <a:r>
              <a:rPr lang="zh-TW" altLang="en-US" sz="2400" dirty="0" smtClean="0"/>
              <a:t>，ＢＤ為</a:t>
            </a:r>
            <a:r>
              <a:rPr lang="zh-TW" altLang="en-US" sz="2400" dirty="0"/>
              <a:t>聚</a:t>
            </a:r>
            <a:r>
              <a:rPr lang="zh-TW" altLang="en-US" sz="2400" dirty="0" smtClean="0"/>
              <a:t>類</a:t>
            </a:r>
            <a:r>
              <a:rPr lang="en-US" altLang="zh-TW" sz="2400" dirty="0" smtClean="0"/>
              <a:t>2</a:t>
            </a:r>
            <a:r>
              <a:rPr lang="zh-TW" altLang="en-US" sz="2400" dirty="0" smtClean="0"/>
              <a:t>，如下左表</a:t>
            </a:r>
            <a:r>
              <a:rPr lang="en-US" altLang="zh-TW" sz="2400" dirty="0" smtClean="0"/>
              <a:t>:</a:t>
            </a:r>
            <a:endParaRPr lang="zh-TW" altLang="en-US" sz="24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868347" y="3151454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01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63" t="35335" r="29523" b="24562"/>
          <a:stretch/>
        </p:blipFill>
        <p:spPr bwMode="auto">
          <a:xfrm>
            <a:off x="5336310" y="961679"/>
            <a:ext cx="3600000" cy="3542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3702666" y="82401"/>
            <a:ext cx="4680520" cy="67892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2.</a:t>
            </a:r>
          </a:p>
          <a:p>
            <a:r>
              <a:rPr lang="zh-TW" altLang="en-US" dirty="0" smtClean="0"/>
              <a:t>計算出各聚類</a:t>
            </a:r>
            <a:r>
              <a:rPr lang="zh-TW" altLang="en-US" dirty="0" smtClean="0">
                <a:solidFill>
                  <a:srgbClr val="0000FF"/>
                </a:solidFill>
              </a:rPr>
              <a:t>形心的座標</a:t>
            </a:r>
            <a:r>
              <a:rPr lang="en-US" altLang="zh-TW" dirty="0" smtClean="0">
                <a:solidFill>
                  <a:srgbClr val="FFC000"/>
                </a:solidFill>
              </a:rPr>
              <a:t>(</a:t>
            </a:r>
            <a:r>
              <a:rPr lang="zh-TW" altLang="en-US" dirty="0">
                <a:solidFill>
                  <a:srgbClr val="FFC000"/>
                </a:solidFill>
              </a:rPr>
              <a:t>初次計算</a:t>
            </a:r>
            <a:r>
              <a:rPr lang="en-US" altLang="zh-TW" dirty="0">
                <a:solidFill>
                  <a:srgbClr val="FFC000"/>
                </a:solidFill>
              </a:rPr>
              <a:t>)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5" t="42127" r="65950" b="29691"/>
          <a:stretch/>
        </p:blipFill>
        <p:spPr bwMode="auto">
          <a:xfrm>
            <a:off x="3112033" y="1042251"/>
            <a:ext cx="1675991" cy="2376263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742065" y="961679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群組 10"/>
          <p:cNvGrpSpPr/>
          <p:nvPr/>
        </p:nvGrpSpPr>
        <p:grpSpPr>
          <a:xfrm>
            <a:off x="868347" y="4694178"/>
            <a:ext cx="1919115" cy="1476343"/>
            <a:chOff x="868347" y="3699435"/>
            <a:chExt cx="1919115" cy="14763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/>
                <p:cNvSpPr/>
                <p:nvPr/>
              </p:nvSpPr>
              <p:spPr>
                <a:xfrm>
                  <a:off x="868347" y="3997250"/>
                  <a:ext cx="1919115" cy="1178528"/>
                </a:xfrm>
                <a:prstGeom prst="rect">
                  <a:avLst/>
                </a:prstGeom>
                <a:solidFill>
                  <a:srgbClr val="C00000"/>
                </a:solidFill>
                <a:ln w="34925">
                  <a:solidFill>
                    <a:srgbClr val="FFC0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TW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+2+4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zh-TW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=2.33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TW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5+3+1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zh-TW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</m:mr>
                        </m:m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" name="矩形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347" y="3997250"/>
                  <a:ext cx="1919115" cy="117852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4925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/>
            <p:cNvSpPr/>
            <p:nvPr/>
          </p:nvSpPr>
          <p:spPr>
            <a:xfrm>
              <a:off x="868347" y="3699435"/>
              <a:ext cx="1919115" cy="297815"/>
            </a:xfrm>
            <a:prstGeom prst="rect">
              <a:avLst/>
            </a:prstGeom>
            <a:solidFill>
              <a:srgbClr val="C00000"/>
            </a:solidFill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初始形心</a:t>
              </a:r>
              <a:r>
                <a:rPr lang="en-US" altLang="zh-TW" dirty="0" smtClean="0"/>
                <a:t>1</a:t>
              </a:r>
              <a:endParaRPr lang="zh-TW" altLang="en-US" dirty="0"/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3132861" y="4694178"/>
            <a:ext cx="1386918" cy="1476343"/>
            <a:chOff x="3368427" y="3699435"/>
            <a:chExt cx="1386918" cy="14763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/>
                <p:cNvSpPr/>
                <p:nvPr/>
              </p:nvSpPr>
              <p:spPr>
                <a:xfrm>
                  <a:off x="3368427" y="3995262"/>
                  <a:ext cx="1386918" cy="1180516"/>
                </a:xfrm>
                <a:prstGeom prst="rect">
                  <a:avLst/>
                </a:prstGeom>
                <a:solidFill>
                  <a:srgbClr val="92D050"/>
                </a:solidFill>
                <a:ln w="34925">
                  <a:solidFill>
                    <a:srgbClr val="FF66CC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TW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+5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=3.5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TW" alt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5+2</m:t>
                                  </m:r>
                                </m:num>
                                <m:den>
                                  <m:r>
                                    <a:rPr lang="zh-TW" altLang="en-US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TW" altLang="en-US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=3.5</m:t>
                              </m:r>
                            </m:e>
                          </m:mr>
                        </m:m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427" y="3995262"/>
                  <a:ext cx="1386918" cy="11805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4925">
                  <a:solidFill>
                    <a:srgbClr val="FF66CC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3368427" y="3699435"/>
              <a:ext cx="1386918" cy="295827"/>
            </a:xfrm>
            <a:prstGeom prst="rect">
              <a:avLst/>
            </a:prstGeom>
            <a:solidFill>
              <a:schemeClr val="accent2"/>
            </a:solidFill>
            <a:ln w="34925">
              <a:solidFill>
                <a:srgbClr val="FF66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初始形心</a:t>
              </a:r>
              <a:r>
                <a:rPr lang="en-US" altLang="zh-TW" dirty="0" smtClean="0"/>
                <a:t>2</a:t>
              </a:r>
              <a:endParaRPr lang="zh-TW" altLang="en-US" dirty="0"/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5860044" y="4937258"/>
            <a:ext cx="2520000" cy="1738673"/>
            <a:chOff x="5860044" y="4937258"/>
            <a:chExt cx="2520000" cy="1738673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469" t="47742" r="64969" b="37152"/>
            <a:stretch/>
          </p:blipFill>
          <p:spPr bwMode="auto">
            <a:xfrm>
              <a:off x="5860044" y="5300558"/>
              <a:ext cx="2520000" cy="1375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矩形 13"/>
            <p:cNvSpPr/>
            <p:nvPr/>
          </p:nvSpPr>
          <p:spPr>
            <a:xfrm>
              <a:off x="5868144" y="4937258"/>
              <a:ext cx="2456372" cy="363300"/>
            </a:xfrm>
            <a:prstGeom prst="rect">
              <a:avLst/>
            </a:prstGeom>
            <a:solidFill>
              <a:srgbClr val="0000FF"/>
            </a:solidFill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初始形心 </a:t>
              </a:r>
              <a:r>
                <a:rPr lang="en-US" altLang="zh-TW" dirty="0" smtClean="0"/>
                <a:t>- </a:t>
              </a:r>
              <a:r>
                <a:rPr lang="zh-TW" altLang="en-US" dirty="0" smtClean="0"/>
                <a:t>座標</a:t>
              </a:r>
              <a:endParaRPr lang="zh-TW" altLang="en-US" dirty="0"/>
            </a:p>
          </p:txBody>
        </p:sp>
      </p:grpSp>
      <p:sp>
        <p:nvSpPr>
          <p:cNvPr id="15" name="向右箭號 14"/>
          <p:cNvSpPr/>
          <p:nvPr/>
        </p:nvSpPr>
        <p:spPr>
          <a:xfrm>
            <a:off x="4860032" y="5661248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087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6" t="29672" r="59942" b="41182"/>
          <a:stretch/>
        </p:blipFill>
        <p:spPr bwMode="auto">
          <a:xfrm>
            <a:off x="2253587" y="920376"/>
            <a:ext cx="3326525" cy="211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66" t="29347" r="29208" b="29616"/>
          <a:stretch/>
        </p:blipFill>
        <p:spPr bwMode="auto">
          <a:xfrm>
            <a:off x="5364088" y="814223"/>
            <a:ext cx="3600000" cy="3622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547664" y="116632"/>
            <a:ext cx="6552728" cy="67892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3.</a:t>
            </a:r>
          </a:p>
          <a:p>
            <a:r>
              <a:rPr lang="zh-TW" altLang="en-US" dirty="0" smtClean="0"/>
              <a:t>計算五個樣本到各聚類</a:t>
            </a:r>
            <a:r>
              <a:rPr lang="zh-TW" altLang="en-US" dirty="0" smtClean="0">
                <a:solidFill>
                  <a:srgbClr val="0000FF"/>
                </a:solidFill>
              </a:rPr>
              <a:t>形心座標</a:t>
            </a:r>
            <a:r>
              <a:rPr lang="en-US" altLang="zh-TW" dirty="0" smtClean="0">
                <a:solidFill>
                  <a:srgbClr val="FFC000"/>
                </a:solidFill>
              </a:rPr>
              <a:t>(</a:t>
            </a:r>
            <a:r>
              <a:rPr lang="zh-TW" altLang="en-US" dirty="0">
                <a:solidFill>
                  <a:srgbClr val="FFC000"/>
                </a:solidFill>
              </a:rPr>
              <a:t>初次計算</a:t>
            </a:r>
            <a:r>
              <a:rPr lang="en-US" altLang="zh-TW" dirty="0">
                <a:solidFill>
                  <a:srgbClr val="FFC000"/>
                </a:solidFill>
              </a:rPr>
              <a:t>)</a:t>
            </a:r>
            <a:r>
              <a:rPr lang="zh-TW" altLang="en-US" dirty="0" smtClean="0"/>
              <a:t>的</a:t>
            </a:r>
            <a:r>
              <a:rPr lang="zh-TW" altLang="en-US" dirty="0"/>
              <a:t>距離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422491"/>
            <a:ext cx="3059563" cy="2791163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480" y="4437112"/>
            <a:ext cx="2636581" cy="237626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66722" y="5416792"/>
            <a:ext cx="2087832" cy="135778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>
                <a:latin typeface="+mn-ea"/>
              </a:rPr>
              <a:t>歐</a:t>
            </a:r>
            <a:r>
              <a:rPr lang="zh-TW" altLang="zh-TW" sz="3200" dirty="0" smtClean="0">
                <a:latin typeface="+mn-ea"/>
              </a:rPr>
              <a:t>幾</a:t>
            </a:r>
            <a:r>
              <a:rPr lang="zh-TW" altLang="zh-TW" sz="3200" dirty="0">
                <a:latin typeface="+mn-ea"/>
              </a:rPr>
              <a:t>里</a:t>
            </a:r>
            <a:r>
              <a:rPr lang="zh-TW" altLang="zh-TW" sz="3200" dirty="0" smtClean="0">
                <a:latin typeface="+mn-ea"/>
              </a:rPr>
              <a:t>得</a:t>
            </a:r>
            <a:endParaRPr lang="en-US" altLang="zh-TW" sz="3200" dirty="0" smtClean="0">
              <a:latin typeface="+mn-ea"/>
            </a:endParaRPr>
          </a:p>
          <a:p>
            <a:pPr algn="ctr"/>
            <a:r>
              <a:rPr lang="zh-TW" altLang="zh-TW" sz="3200" dirty="0" smtClean="0">
                <a:latin typeface="+mn-ea"/>
              </a:rPr>
              <a:t>距離</a:t>
            </a:r>
            <a:endParaRPr lang="zh-TW" altLang="zh-TW" sz="3200" dirty="0">
              <a:latin typeface="+mn-ea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69" t="47742" r="64969" b="37152"/>
          <a:stretch/>
        </p:blipFill>
        <p:spPr bwMode="auto">
          <a:xfrm>
            <a:off x="6531782" y="2554428"/>
            <a:ext cx="2520000" cy="1375373"/>
          </a:xfrm>
          <a:prstGeom prst="rect">
            <a:avLst/>
          </a:prstGeom>
          <a:noFill/>
          <a:ln w="349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2843808" y="1367036"/>
            <a:ext cx="2520280" cy="333772"/>
          </a:xfrm>
          <a:prstGeom prst="rect">
            <a:avLst/>
          </a:prstGeom>
          <a:noFill/>
          <a:ln w="349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9832" y="5384147"/>
            <a:ext cx="5950345" cy="1390429"/>
          </a:xfrm>
          <a:prstGeom prst="rect">
            <a:avLst/>
          </a:prstGeom>
          <a:ln w="34925">
            <a:solidFill>
              <a:srgbClr val="FF0000"/>
            </a:solidFill>
          </a:ln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-24968" y="920376"/>
            <a:ext cx="2171678" cy="211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40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3" t="35446" r="66157" b="36031"/>
          <a:stretch/>
        </p:blipFill>
        <p:spPr bwMode="auto">
          <a:xfrm>
            <a:off x="5868144" y="873120"/>
            <a:ext cx="2160000" cy="2650953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690970" y="1"/>
            <a:ext cx="4968552" cy="812994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4.</a:t>
            </a:r>
          </a:p>
          <a:p>
            <a:r>
              <a:rPr lang="zh-TW" altLang="en-US" dirty="0" smtClean="0"/>
              <a:t>依據</a:t>
            </a:r>
            <a:r>
              <a:rPr lang="en-US" altLang="zh-TW" dirty="0"/>
              <a:t>-</a:t>
            </a:r>
            <a:r>
              <a:rPr lang="zh-TW" altLang="en-US" dirty="0" smtClean="0"/>
              <a:t>各樣本對各聚類中心的距離，以最短為原則，</a:t>
            </a:r>
            <a:r>
              <a:rPr lang="zh-TW" altLang="en-US" dirty="0" smtClean="0">
                <a:solidFill>
                  <a:srgbClr val="0000FF"/>
                </a:solidFill>
              </a:rPr>
              <a:t>將各樣本重新歸屬</a:t>
            </a:r>
            <a:r>
              <a:rPr lang="zh-TW" altLang="en-US" dirty="0">
                <a:solidFill>
                  <a:srgbClr val="0000FF"/>
                </a:solidFill>
              </a:rPr>
              <a:t>到</a:t>
            </a:r>
            <a:r>
              <a:rPr lang="zh-TW" altLang="en-US" dirty="0" smtClean="0">
                <a:solidFill>
                  <a:srgbClr val="0000FF"/>
                </a:solidFill>
              </a:rPr>
              <a:t>各聚類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6" t="29672" r="59942" b="41182"/>
          <a:stretch/>
        </p:blipFill>
        <p:spPr bwMode="auto">
          <a:xfrm>
            <a:off x="1547664" y="873120"/>
            <a:ext cx="3326525" cy="2676809"/>
          </a:xfrm>
          <a:prstGeom prst="rect">
            <a:avLst/>
          </a:prstGeom>
          <a:noFill/>
          <a:ln w="349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爆炸 1 1"/>
          <p:cNvSpPr/>
          <p:nvPr/>
        </p:nvSpPr>
        <p:spPr>
          <a:xfrm>
            <a:off x="5148064" y="3789040"/>
            <a:ext cx="3816424" cy="2808312"/>
          </a:xfrm>
          <a:prstGeom prst="irregularSeal1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產生新的聚類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形心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與原來的不同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-Resume</a:t>
            </a:r>
            <a:endParaRPr lang="zh-TW" altLang="en-US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72" t="38685" r="28311" b="19140"/>
          <a:stretch/>
        </p:blipFill>
        <p:spPr bwMode="auto">
          <a:xfrm>
            <a:off x="1547664" y="3680157"/>
            <a:ext cx="3269474" cy="3098956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向右箭號 2"/>
          <p:cNvSpPr/>
          <p:nvPr/>
        </p:nvSpPr>
        <p:spPr>
          <a:xfrm>
            <a:off x="5148064" y="2060848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827584" y="5193196"/>
            <a:ext cx="576064" cy="3960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744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72" t="38685" r="28311" b="19140"/>
          <a:stretch/>
        </p:blipFill>
        <p:spPr bwMode="auto">
          <a:xfrm>
            <a:off x="5436096" y="926088"/>
            <a:ext cx="3600000" cy="341224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563888" y="119165"/>
            <a:ext cx="5040560" cy="67892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5</a:t>
            </a:r>
            <a:r>
              <a:rPr lang="en-US" altLang="zh-TW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重覆動作</a:t>
            </a:r>
            <a:r>
              <a:rPr lang="en-US" altLang="zh-TW" dirty="0">
                <a:solidFill>
                  <a:srgbClr val="0000FF"/>
                </a:solidFill>
              </a:rPr>
              <a:t>2</a:t>
            </a:r>
            <a:r>
              <a:rPr lang="zh-TW" altLang="en-US" dirty="0" smtClean="0">
                <a:solidFill>
                  <a:srgbClr val="0000FF"/>
                </a:solidFill>
              </a:rPr>
              <a:t>到</a:t>
            </a:r>
            <a:r>
              <a:rPr lang="en-US" altLang="zh-TW" dirty="0" smtClean="0">
                <a:solidFill>
                  <a:srgbClr val="0000FF"/>
                </a:solidFill>
              </a:rPr>
              <a:t>4)</a:t>
            </a:r>
            <a:r>
              <a:rPr lang="zh-TW" altLang="en-US" dirty="0" smtClean="0"/>
              <a:t>重新計算出各聚類</a:t>
            </a:r>
            <a:r>
              <a:rPr lang="zh-TW" altLang="en-US" dirty="0" smtClean="0">
                <a:solidFill>
                  <a:srgbClr val="FF0000"/>
                </a:solidFill>
              </a:rPr>
              <a:t>形心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929989" y="5063522"/>
                <a:ext cx="2303836" cy="117852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+2+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1.66666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5+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4.3333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89" y="5063522"/>
                <a:ext cx="2303836" cy="11785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563888" y="4997662"/>
                <a:ext cx="1691030" cy="1174937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zh-TW" alt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zh-TW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zh-TW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TW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TW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.5</m:t>
                            </m:r>
                          </m:e>
                        </m:mr>
                        <m:mr>
                          <m:e>
                            <m:f>
                              <m:fPr>
                                <m:ctrlPr>
                                  <a:rPr lang="zh-TW" alt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TW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TW" altLang="en-US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TW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TW" altLang="en-US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.5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4997662"/>
                <a:ext cx="1691030" cy="11749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742065" y="961679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3" t="35446" r="66157" b="36031"/>
          <a:stretch/>
        </p:blipFill>
        <p:spPr bwMode="auto">
          <a:xfrm>
            <a:off x="3094919" y="954574"/>
            <a:ext cx="2160000" cy="2650953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929989" y="4702273"/>
            <a:ext cx="2303836" cy="361249"/>
          </a:xfrm>
          <a:prstGeom prst="rect">
            <a:avLst/>
          </a:prstGeom>
          <a:solidFill>
            <a:srgbClr val="C00000"/>
          </a:solidFill>
          <a:ln w="349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第</a:t>
            </a:r>
            <a:r>
              <a:rPr lang="zh-TW" altLang="en-US" dirty="0"/>
              <a:t>二</a:t>
            </a:r>
            <a:r>
              <a:rPr lang="zh-TW" altLang="en-US" dirty="0" smtClean="0"/>
              <a:t>次</a:t>
            </a:r>
            <a:r>
              <a:rPr lang="zh-TW" altLang="en-US" dirty="0"/>
              <a:t>的</a:t>
            </a:r>
            <a:r>
              <a:rPr lang="zh-TW" altLang="en-US" dirty="0" smtClean="0"/>
              <a:t>形心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563887" y="4702273"/>
            <a:ext cx="1691031" cy="295389"/>
          </a:xfrm>
          <a:prstGeom prst="rect">
            <a:avLst/>
          </a:prstGeom>
          <a:solidFill>
            <a:schemeClr val="accent2"/>
          </a:solidFill>
          <a:ln w="34925">
            <a:solidFill>
              <a:srgbClr val="FF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latin typeface="+mn-ea"/>
              </a:rPr>
              <a:t>第二次</a:t>
            </a:r>
            <a:r>
              <a:rPr lang="zh-TW" altLang="en-US" dirty="0">
                <a:latin typeface="+mn-ea"/>
              </a:rPr>
              <a:t>的形</a:t>
            </a:r>
            <a:r>
              <a:rPr lang="zh-TW" altLang="en-US" dirty="0" smtClean="0">
                <a:latin typeface="+mn-ea"/>
              </a:rPr>
              <a:t>心</a:t>
            </a:r>
            <a:r>
              <a:rPr lang="en-US" altLang="zh-TW" dirty="0" smtClean="0">
                <a:latin typeface="+mn-ea"/>
              </a:rPr>
              <a:t>2</a:t>
            </a:r>
            <a:endParaRPr lang="zh-TW" altLang="en-US" dirty="0">
              <a:latin typeface="+mn-ea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5976096" y="4632678"/>
            <a:ext cx="2520000" cy="2162194"/>
            <a:chOff x="5976096" y="4632678"/>
            <a:chExt cx="2520000" cy="2162194"/>
          </a:xfrm>
        </p:grpSpPr>
        <p:pic>
          <p:nvPicPr>
            <p:cNvPr id="12290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87" t="50000" r="64982" b="30172"/>
            <a:stretch/>
          </p:blipFill>
          <p:spPr bwMode="auto">
            <a:xfrm>
              <a:off x="5976096" y="4997662"/>
              <a:ext cx="2520000" cy="1797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矩形 11"/>
            <p:cNvSpPr/>
            <p:nvPr/>
          </p:nvSpPr>
          <p:spPr>
            <a:xfrm>
              <a:off x="5976096" y="4632678"/>
              <a:ext cx="2520000" cy="364984"/>
            </a:xfrm>
            <a:prstGeom prst="rect">
              <a:avLst/>
            </a:prstGeom>
            <a:solidFill>
              <a:srgbClr val="0000FF"/>
            </a:solidFill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第</a:t>
              </a:r>
              <a:r>
                <a:rPr lang="zh-TW" altLang="en-US" dirty="0"/>
                <a:t>二</a:t>
              </a:r>
              <a:r>
                <a:rPr lang="zh-TW" altLang="en-US" dirty="0" smtClean="0"/>
                <a:t>次形心 </a:t>
              </a:r>
              <a:r>
                <a:rPr lang="en-US" altLang="zh-TW" dirty="0" smtClean="0"/>
                <a:t>- </a:t>
              </a:r>
              <a:r>
                <a:rPr lang="zh-TW" altLang="en-US" dirty="0" smtClean="0"/>
                <a:t>座標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64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7" t="33250" r="61798" b="38180"/>
          <a:stretch/>
        </p:blipFill>
        <p:spPr bwMode="auto">
          <a:xfrm>
            <a:off x="1763688" y="4580943"/>
            <a:ext cx="2857915" cy="2089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86" t="26616" r="28311" b="32004"/>
          <a:stretch/>
        </p:blipFill>
        <p:spPr bwMode="auto">
          <a:xfrm>
            <a:off x="5556197" y="836712"/>
            <a:ext cx="3600000" cy="3323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988604" y="86033"/>
            <a:ext cx="5904656" cy="678929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步驟</a:t>
            </a:r>
            <a:r>
              <a:rPr lang="en-US" altLang="zh-TW" dirty="0" smtClean="0"/>
              <a:t>6.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</a:p>
          <a:p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重覆</a:t>
            </a:r>
            <a:r>
              <a:rPr lang="zh-TW" altLang="en-US" dirty="0" smtClean="0">
                <a:solidFill>
                  <a:srgbClr val="0000FF"/>
                </a:solidFill>
              </a:rPr>
              <a:t>動作</a:t>
            </a:r>
            <a:r>
              <a:rPr lang="en-US" altLang="zh-TW" dirty="0" smtClean="0">
                <a:solidFill>
                  <a:srgbClr val="0000FF"/>
                </a:solidFill>
              </a:rPr>
              <a:t>3)</a:t>
            </a:r>
            <a:r>
              <a:rPr lang="zh-TW" altLang="en-US" dirty="0" smtClean="0"/>
              <a:t>計算各樣本到各聚類</a:t>
            </a:r>
            <a:r>
              <a:rPr lang="zh-TW" altLang="en-US" dirty="0" smtClean="0">
                <a:solidFill>
                  <a:schemeClr val="bg1"/>
                </a:solidFill>
              </a:rPr>
              <a:t>形心</a:t>
            </a:r>
            <a:r>
              <a:rPr lang="zh-TW" altLang="en-US" dirty="0">
                <a:solidFill>
                  <a:srgbClr val="FF0000"/>
                </a:solidFill>
              </a:rPr>
              <a:t>的距離</a:t>
            </a:r>
            <a:r>
              <a:rPr lang="zh-TW" altLang="en-US" dirty="0" smtClean="0"/>
              <a:t>如下左表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3" t="38246" r="65986" b="32787"/>
          <a:stretch/>
        </p:blipFill>
        <p:spPr bwMode="auto">
          <a:xfrm>
            <a:off x="923017" y="980728"/>
            <a:ext cx="2171678" cy="25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群組 7"/>
          <p:cNvGrpSpPr/>
          <p:nvPr/>
        </p:nvGrpSpPr>
        <p:grpSpPr>
          <a:xfrm>
            <a:off x="3115217" y="1052736"/>
            <a:ext cx="2537665" cy="2183169"/>
            <a:chOff x="5976096" y="4611703"/>
            <a:chExt cx="2537665" cy="2183169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87" t="50000" r="64982" b="30172"/>
            <a:stretch/>
          </p:blipFill>
          <p:spPr bwMode="auto">
            <a:xfrm>
              <a:off x="5976096" y="4997662"/>
              <a:ext cx="2520000" cy="1797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矩形 9"/>
            <p:cNvSpPr/>
            <p:nvPr/>
          </p:nvSpPr>
          <p:spPr>
            <a:xfrm>
              <a:off x="5993761" y="4611703"/>
              <a:ext cx="2520000" cy="364984"/>
            </a:xfrm>
            <a:prstGeom prst="rect">
              <a:avLst/>
            </a:prstGeom>
            <a:solidFill>
              <a:srgbClr val="0000FF"/>
            </a:solidFill>
            <a:ln w="3492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第</a:t>
              </a:r>
              <a:r>
                <a:rPr lang="zh-TW" altLang="en-US" dirty="0"/>
                <a:t>二</a:t>
              </a:r>
              <a:r>
                <a:rPr lang="zh-TW" altLang="en-US" dirty="0" smtClean="0"/>
                <a:t>次形心 </a:t>
              </a:r>
              <a:r>
                <a:rPr lang="en-US" altLang="zh-TW" dirty="0" smtClean="0"/>
                <a:t>- </a:t>
              </a:r>
              <a:r>
                <a:rPr lang="zh-TW" altLang="en-US" dirty="0" smtClean="0"/>
                <a:t>座標</a:t>
              </a:r>
              <a:endParaRPr lang="zh-TW" altLang="en-US" dirty="0"/>
            </a:p>
          </p:txBody>
        </p:sp>
      </p:grpSp>
      <p:sp>
        <p:nvSpPr>
          <p:cNvPr id="2" name="向右箭號 1"/>
          <p:cNvSpPr/>
          <p:nvPr/>
        </p:nvSpPr>
        <p:spPr>
          <a:xfrm>
            <a:off x="935442" y="5445865"/>
            <a:ext cx="56431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右箭號 12"/>
          <p:cNvSpPr/>
          <p:nvPr/>
        </p:nvSpPr>
        <p:spPr>
          <a:xfrm>
            <a:off x="5431619" y="5445865"/>
            <a:ext cx="56431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6276197" y="4588297"/>
            <a:ext cx="2160000" cy="2089884"/>
            <a:chOff x="6276197" y="4588297"/>
            <a:chExt cx="2160000" cy="2089884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57" t="38146" r="66072" b="32974"/>
            <a:stretch/>
          </p:blipFill>
          <p:spPr bwMode="auto">
            <a:xfrm>
              <a:off x="6276197" y="4588297"/>
              <a:ext cx="2160000" cy="2089884"/>
            </a:xfrm>
            <a:prstGeom prst="rect">
              <a:avLst/>
            </a:prstGeom>
            <a:noFill/>
            <a:ln w="2540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3" name="矩形 2"/>
            <p:cNvSpPr/>
            <p:nvPr/>
          </p:nvSpPr>
          <p:spPr>
            <a:xfrm>
              <a:off x="7356197" y="4653135"/>
              <a:ext cx="244987" cy="330787"/>
            </a:xfrm>
            <a:prstGeom prst="rect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573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71" t="32004" r="28553" b="26185"/>
          <a:stretch/>
        </p:blipFill>
        <p:spPr bwMode="auto">
          <a:xfrm>
            <a:off x="4716016" y="1628800"/>
            <a:ext cx="3600000" cy="345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3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16488" y="116632"/>
            <a:ext cx="5472608" cy="1368152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dirty="0"/>
              <a:t>步驟</a:t>
            </a:r>
            <a:r>
              <a:rPr lang="en-US" altLang="zh-TW" sz="2000" dirty="0" smtClean="0"/>
              <a:t>7.</a:t>
            </a:r>
            <a:r>
              <a:rPr lang="en-US" altLang="zh-TW" sz="2000" dirty="0" smtClean="0">
                <a:solidFill>
                  <a:srgbClr val="0000FF"/>
                </a:solidFill>
              </a:rPr>
              <a:t> </a:t>
            </a:r>
          </a:p>
          <a:p>
            <a:r>
              <a:rPr lang="en-US" altLang="zh-TW" sz="2000" dirty="0" smtClean="0">
                <a:solidFill>
                  <a:srgbClr val="0000FF"/>
                </a:solidFill>
              </a:rPr>
              <a:t>(</a:t>
            </a:r>
            <a:r>
              <a:rPr lang="zh-TW" altLang="en-US" sz="2000" dirty="0">
                <a:solidFill>
                  <a:srgbClr val="0000FF"/>
                </a:solidFill>
              </a:rPr>
              <a:t>重覆</a:t>
            </a:r>
            <a:r>
              <a:rPr lang="zh-TW" altLang="en-US" sz="2000" dirty="0" smtClean="0">
                <a:solidFill>
                  <a:srgbClr val="0000FF"/>
                </a:solidFill>
              </a:rPr>
              <a:t>動作</a:t>
            </a:r>
            <a:r>
              <a:rPr lang="en-US" altLang="zh-TW" sz="2000" dirty="0" smtClean="0">
                <a:solidFill>
                  <a:srgbClr val="0000FF"/>
                </a:solidFill>
              </a:rPr>
              <a:t>4)</a:t>
            </a:r>
            <a:r>
              <a:rPr lang="zh-TW" altLang="en-US" sz="2000" dirty="0" smtClean="0"/>
              <a:t>依據</a:t>
            </a:r>
            <a:r>
              <a:rPr lang="en-US" altLang="zh-TW" sz="2000" dirty="0"/>
              <a:t>-</a:t>
            </a:r>
            <a:r>
              <a:rPr lang="zh-TW" altLang="en-US" sz="2000" dirty="0"/>
              <a:t>各樣本對各聚類中心的距離，</a:t>
            </a:r>
            <a:r>
              <a:rPr lang="zh-TW" altLang="en-US" sz="2000" dirty="0">
                <a:solidFill>
                  <a:schemeClr val="bg1"/>
                </a:solidFill>
              </a:rPr>
              <a:t>以最短為原則</a:t>
            </a:r>
            <a:r>
              <a:rPr lang="zh-TW" altLang="en-US" sz="2000" dirty="0"/>
              <a:t>，將各樣本</a:t>
            </a:r>
            <a:r>
              <a:rPr lang="zh-TW" altLang="en-US" sz="2000" dirty="0">
                <a:solidFill>
                  <a:srgbClr val="FF0000"/>
                </a:solidFill>
              </a:rPr>
              <a:t>重新歸屬</a:t>
            </a:r>
            <a:r>
              <a:rPr lang="zh-TW" altLang="en-US" sz="2000" dirty="0"/>
              <a:t>到各聚類如下左表</a:t>
            </a:r>
            <a:r>
              <a:rPr lang="en-US" altLang="zh-TW" sz="2000" dirty="0"/>
              <a:t>:</a:t>
            </a:r>
            <a:endParaRPr lang="zh-TW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1043608" y="5319267"/>
            <a:ext cx="7598742" cy="1411733"/>
          </a:xfrm>
          <a:prstGeom prst="rect">
            <a:avLst/>
          </a:prstGeom>
          <a:solidFill>
            <a:srgbClr val="66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400" dirty="0"/>
              <a:t>步驟</a:t>
            </a:r>
            <a:r>
              <a:rPr lang="en-US" altLang="zh-TW" sz="2400" dirty="0" smtClean="0"/>
              <a:t>8.</a:t>
            </a:r>
            <a:r>
              <a:rPr lang="en-US" altLang="zh-TW" sz="2400" dirty="0" smtClean="0">
                <a:solidFill>
                  <a:srgbClr val="0000FF"/>
                </a:solidFill>
              </a:rPr>
              <a:t> </a:t>
            </a:r>
          </a:p>
          <a:p>
            <a:r>
              <a:rPr lang="zh-TW" altLang="en-US" sz="2400" dirty="0" smtClean="0">
                <a:solidFill>
                  <a:schemeClr val="bg1"/>
                </a:solidFill>
              </a:rPr>
              <a:t>因為此次</a:t>
            </a:r>
            <a:r>
              <a:rPr lang="en-US" altLang="zh-TW" sz="24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sz="2400" dirty="0" smtClean="0">
                <a:solidFill>
                  <a:schemeClr val="bg1"/>
                </a:solidFill>
              </a:rPr>
              <a:t>所有的樣本的聚類歸屬均與前次相同</a:t>
            </a:r>
            <a:r>
              <a:rPr lang="en-US" altLang="zh-TW" sz="24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  <a:r>
              <a:rPr lang="zh-TW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zh-TW" sz="2400" dirty="0" smtClean="0">
                <a:solidFill>
                  <a:schemeClr val="bg1"/>
                </a:solidFill>
              </a:rPr>
              <a:t>(</a:t>
            </a:r>
            <a:r>
              <a:rPr lang="zh-TW" altLang="en-US" sz="2400" dirty="0" smtClean="0">
                <a:solidFill>
                  <a:schemeClr val="bg1"/>
                </a:solidFill>
              </a:rPr>
              <a:t>皆無更動</a:t>
            </a:r>
            <a:r>
              <a:rPr lang="en-US" altLang="zh-TW" sz="2400" dirty="0" smtClean="0">
                <a:solidFill>
                  <a:schemeClr val="bg1"/>
                </a:solidFill>
              </a:rPr>
              <a:t>)</a:t>
            </a:r>
            <a:r>
              <a:rPr lang="zh-TW" altLang="en-US" sz="2400" dirty="0" smtClean="0">
                <a:solidFill>
                  <a:schemeClr val="bg1"/>
                </a:solidFill>
              </a:rPr>
              <a:t>，故結束。</a:t>
            </a:r>
            <a:r>
              <a:rPr lang="zh-TW" altLang="en-US" sz="2400" dirty="0" smtClean="0">
                <a:solidFill>
                  <a:srgbClr val="0000FF"/>
                </a:solidFill>
              </a:rPr>
              <a:t>目前</a:t>
            </a:r>
            <a:r>
              <a:rPr lang="zh-TW" altLang="en-US" sz="2400" dirty="0" smtClean="0">
                <a:solidFill>
                  <a:schemeClr val="accent5">
                    <a:lumMod val="90000"/>
                  </a:schemeClr>
                </a:solidFill>
              </a:rPr>
              <a:t>各聚類形心的座標</a:t>
            </a:r>
            <a:r>
              <a:rPr lang="zh-TW" altLang="en-US" sz="2400" dirty="0" smtClean="0">
                <a:solidFill>
                  <a:srgbClr val="0000FF"/>
                </a:solidFill>
              </a:rPr>
              <a:t>即為所求的解答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2195736" y="1988840"/>
            <a:ext cx="2160000" cy="2584285"/>
            <a:chOff x="2195736" y="2204864"/>
            <a:chExt cx="2160000" cy="2584285"/>
          </a:xfrm>
        </p:grpSpPr>
        <p:pic>
          <p:nvPicPr>
            <p:cNvPr id="1433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57" t="38146" r="66072" b="32974"/>
            <a:stretch/>
          </p:blipFill>
          <p:spPr bwMode="auto">
            <a:xfrm>
              <a:off x="2195736" y="2204864"/>
              <a:ext cx="2160000" cy="2584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8"/>
            <p:cNvSpPr/>
            <p:nvPr/>
          </p:nvSpPr>
          <p:spPr>
            <a:xfrm>
              <a:off x="3297716" y="2348880"/>
              <a:ext cx="244987" cy="330787"/>
            </a:xfrm>
            <a:prstGeom prst="rect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90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55735" y="188913"/>
            <a:ext cx="5220721" cy="719807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產出</a:t>
            </a:r>
            <a:r>
              <a:rPr lang="en-US" altLang="zh-TW" dirty="0" smtClean="0">
                <a:solidFill>
                  <a:srgbClr val="0000FF"/>
                </a:solidFill>
              </a:rPr>
              <a:t>(4</a:t>
            </a:r>
            <a:r>
              <a:rPr lang="zh-TW" altLang="en-US" dirty="0">
                <a:solidFill>
                  <a:srgbClr val="0000FF"/>
                </a:solidFill>
              </a:rPr>
              <a:t>個</a:t>
            </a:r>
            <a:r>
              <a:rPr lang="en-US" altLang="zh-TW" dirty="0" smtClean="0">
                <a:solidFill>
                  <a:srgbClr val="0000FF"/>
                </a:solidFill>
              </a:rPr>
              <a:t>Outcome)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7" t="50000" r="64982" b="30172"/>
          <a:stretch/>
        </p:blipFill>
        <p:spPr bwMode="auto">
          <a:xfrm>
            <a:off x="665496" y="1221814"/>
            <a:ext cx="2520000" cy="1797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7" t="38146" r="66072" b="32974"/>
          <a:stretch/>
        </p:blipFill>
        <p:spPr bwMode="auto">
          <a:xfrm>
            <a:off x="3243235" y="1239263"/>
            <a:ext cx="2160000" cy="2584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71" t="32004" r="28553" b="26185"/>
          <a:stretch/>
        </p:blipFill>
        <p:spPr bwMode="auto">
          <a:xfrm>
            <a:off x="5403860" y="1290311"/>
            <a:ext cx="3600000" cy="345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665496" y="933782"/>
            <a:ext cx="2448272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1.</a:t>
            </a:r>
            <a:r>
              <a:rPr lang="zh-TW" altLang="en-US" dirty="0" smtClean="0"/>
              <a:t>聚類的形心座標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275835" y="933782"/>
            <a:ext cx="2340161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/>
              <a:t>2.</a:t>
            </a:r>
            <a:r>
              <a:rPr lang="zh-TW" altLang="en-US" sz="1400" dirty="0" smtClean="0"/>
              <a:t>每一樣本最後所屬的聚類</a:t>
            </a:r>
            <a:endParaRPr lang="zh-TW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5940152" y="955299"/>
            <a:ext cx="2952328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3.</a:t>
            </a:r>
            <a:r>
              <a:rPr lang="zh-TW" altLang="en-US" dirty="0" smtClean="0"/>
              <a:t>以圖呈現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113768" y="5152632"/>
            <a:ext cx="2952328" cy="2880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4.</a:t>
            </a:r>
            <a:r>
              <a:rPr lang="zh-TW" altLang="en-US" dirty="0" smtClean="0"/>
              <a:t>你的分析所得</a:t>
            </a:r>
            <a:r>
              <a:rPr lang="en-US" altLang="zh-TW" dirty="0" smtClean="0"/>
              <a:t>(</a:t>
            </a:r>
            <a:r>
              <a:rPr lang="zh-TW" altLang="en-US" dirty="0" smtClean="0"/>
              <a:t>判讀結果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113768" y="5469681"/>
            <a:ext cx="2952327" cy="967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0000FF"/>
                </a:solidFill>
                <a:latin typeface="+mn-ea"/>
              </a:rPr>
              <a:t>1.X1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愈大、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>X2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愈小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/>
            </a:r>
            <a:br>
              <a:rPr lang="en-US" altLang="zh-TW" dirty="0">
                <a:solidFill>
                  <a:srgbClr val="0000FF"/>
                </a:solidFill>
                <a:latin typeface="+mn-ea"/>
              </a:rPr>
            </a:br>
            <a:r>
              <a:rPr lang="en-US" altLang="zh-TW" dirty="0">
                <a:solidFill>
                  <a:srgbClr val="0000FF"/>
                </a:solidFill>
                <a:latin typeface="+mn-ea"/>
              </a:rPr>
              <a:t>2.X1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愈小、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> X2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愈大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/>
            </a:r>
            <a:br>
              <a:rPr lang="en-US" altLang="zh-TW" dirty="0">
                <a:solidFill>
                  <a:srgbClr val="0000FF"/>
                </a:solidFill>
                <a:latin typeface="+mn-ea"/>
              </a:rPr>
            </a:br>
            <a:r>
              <a:rPr lang="en-US" altLang="zh-TW" dirty="0">
                <a:solidFill>
                  <a:srgbClr val="0000FF"/>
                </a:solidFill>
                <a:latin typeface="+mn-ea"/>
              </a:rPr>
              <a:t>3.X1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與</a:t>
            </a:r>
            <a:r>
              <a:rPr lang="en-US" altLang="zh-TW" dirty="0">
                <a:solidFill>
                  <a:srgbClr val="0000FF"/>
                </a:solidFill>
                <a:latin typeface="+mn-ea"/>
              </a:rPr>
              <a:t>X2</a:t>
            </a:r>
            <a:r>
              <a:rPr lang="zh-TW" altLang="en-US" dirty="0">
                <a:solidFill>
                  <a:srgbClr val="0000FF"/>
                </a:solidFill>
                <a:latin typeface="+mn-ea"/>
              </a:rPr>
              <a:t>呈現負</a:t>
            </a:r>
            <a:r>
              <a:rPr lang="zh-TW" altLang="en-US" dirty="0" smtClean="0">
                <a:solidFill>
                  <a:srgbClr val="0000FF"/>
                </a:solidFill>
                <a:latin typeface="+mn-ea"/>
              </a:rPr>
              <a:t>相關</a:t>
            </a:r>
            <a:endParaRPr lang="zh-TW" altLang="en-US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584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61380" y="87323"/>
            <a:ext cx="6048672" cy="791815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K-means</a:t>
            </a:r>
            <a:r>
              <a:rPr lang="en-US" altLang="zh-TW" dirty="0" smtClean="0"/>
              <a:t> sub summary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2641868" y="1093814"/>
            <a:ext cx="4415720" cy="72008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作業一命題</a:t>
            </a:r>
            <a:r>
              <a:rPr lang="zh-TW" altLang="en-US" dirty="0"/>
              <a:t>：</a:t>
            </a:r>
            <a:r>
              <a:rPr lang="en-US" altLang="zh-TW" dirty="0" smtClean="0"/>
              <a:t>5</a:t>
            </a:r>
            <a:r>
              <a:rPr lang="zh-TW" altLang="en-US" dirty="0" smtClean="0"/>
              <a:t>個樣本分屬</a:t>
            </a:r>
            <a:r>
              <a:rPr lang="en-US" altLang="zh-TW" dirty="0" smtClean="0"/>
              <a:t>3</a:t>
            </a:r>
            <a:r>
              <a:rPr lang="zh-TW" altLang="en-US" dirty="0" smtClean="0"/>
              <a:t>個聚類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2627784" y="2121612"/>
            <a:ext cx="4397856" cy="7920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算出</a:t>
            </a:r>
            <a:r>
              <a:rPr lang="en-US" altLang="zh-TW" dirty="0"/>
              <a:t>3</a:t>
            </a:r>
            <a:r>
              <a:rPr lang="zh-TW" altLang="en-US" dirty="0"/>
              <a:t>個聚</a:t>
            </a:r>
            <a:r>
              <a:rPr lang="zh-TW" altLang="en-US" dirty="0" smtClean="0"/>
              <a:t>類的形</a:t>
            </a:r>
            <a:r>
              <a:rPr lang="zh-TW" altLang="en-US" dirty="0"/>
              <a:t>心</a:t>
            </a:r>
          </a:p>
        </p:txBody>
      </p:sp>
      <p:sp>
        <p:nvSpPr>
          <p:cNvPr id="7" name="矩形 6"/>
          <p:cNvSpPr/>
          <p:nvPr/>
        </p:nvSpPr>
        <p:spPr>
          <a:xfrm>
            <a:off x="2627784" y="3207354"/>
            <a:ext cx="4415720" cy="79771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算出每一個樣本跟每一個聚類形心的距離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2627784" y="4342615"/>
            <a:ext cx="4415720" cy="767328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重新標記每一樣本歸屬的聚類</a:t>
            </a:r>
            <a:endParaRPr lang="en-US" altLang="zh-TW" dirty="0" smtClean="0"/>
          </a:p>
          <a:p>
            <a:pPr algn="ctr"/>
            <a:r>
              <a:rPr lang="en-US" altLang="zh-TW" dirty="0" smtClean="0"/>
              <a:t>(</a:t>
            </a:r>
            <a:r>
              <a:rPr lang="zh-TW" altLang="en-US" dirty="0" smtClean="0"/>
              <a:t>取距形心距離最短者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9" name="流程圖: 決策 8"/>
          <p:cNvSpPr/>
          <p:nvPr/>
        </p:nvSpPr>
        <p:spPr>
          <a:xfrm>
            <a:off x="3583232" y="5447494"/>
            <a:ext cx="2304256" cy="1357784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</a:rPr>
              <a:t>樣本歸屬</a:t>
            </a:r>
            <a:r>
              <a:rPr lang="zh-TW" altLang="en-US" dirty="0">
                <a:solidFill>
                  <a:srgbClr val="FF0000"/>
                </a:solidFill>
              </a:rPr>
              <a:t>的聚</a:t>
            </a:r>
            <a:r>
              <a:rPr lang="zh-TW" altLang="en-US" dirty="0" smtClean="0">
                <a:solidFill>
                  <a:srgbClr val="FF0000"/>
                </a:solidFill>
              </a:rPr>
              <a:t>類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algn="ctr"/>
            <a:r>
              <a:rPr lang="zh-TW" altLang="en-US" dirty="0" smtClean="0">
                <a:solidFill>
                  <a:srgbClr val="FF0000"/>
                </a:solidFill>
              </a:rPr>
              <a:t>有被調整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  <a:endParaRPr lang="en-US" altLang="zh-TW" dirty="0">
              <a:solidFill>
                <a:srgbClr val="FF0000"/>
              </a:solidFill>
            </a:endParaRPr>
          </a:p>
        </p:txBody>
      </p:sp>
      <p:cxnSp>
        <p:nvCxnSpPr>
          <p:cNvPr id="11" name="直線單箭頭接點 10"/>
          <p:cNvCxnSpPr>
            <a:stCxn id="9" idx="3"/>
          </p:cNvCxnSpPr>
          <p:nvPr/>
        </p:nvCxnSpPr>
        <p:spPr>
          <a:xfrm>
            <a:off x="5887488" y="6126386"/>
            <a:ext cx="142081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9" idx="1"/>
          </p:cNvCxnSpPr>
          <p:nvPr/>
        </p:nvCxnSpPr>
        <p:spPr>
          <a:xfrm flipH="1">
            <a:off x="1115616" y="6126386"/>
            <a:ext cx="246761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 flipV="1">
            <a:off x="1115616" y="2517656"/>
            <a:ext cx="0" cy="360873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endCxn id="6" idx="1"/>
          </p:cNvCxnSpPr>
          <p:nvPr/>
        </p:nvCxnSpPr>
        <p:spPr>
          <a:xfrm>
            <a:off x="1115616" y="2517656"/>
            <a:ext cx="151216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2512784" y="5374121"/>
            <a:ext cx="720080" cy="646331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有被調整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185192" y="5374120"/>
            <a:ext cx="720080" cy="646331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沒有調整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7308304" y="5067917"/>
            <a:ext cx="1656183" cy="17783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最後一次的形心座標</a:t>
            </a:r>
            <a:r>
              <a:rPr lang="zh-TW" altLang="en-US" dirty="0" smtClean="0">
                <a:solidFill>
                  <a:srgbClr val="FF0000"/>
                </a:solidFill>
              </a:rPr>
              <a:t>即為所求結束作業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9" name="向下箭號 28"/>
          <p:cNvSpPr/>
          <p:nvPr/>
        </p:nvSpPr>
        <p:spPr>
          <a:xfrm>
            <a:off x="4610688" y="1813894"/>
            <a:ext cx="249344" cy="293654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向下箭號 29"/>
          <p:cNvSpPr/>
          <p:nvPr/>
        </p:nvSpPr>
        <p:spPr>
          <a:xfrm>
            <a:off x="4610688" y="2898794"/>
            <a:ext cx="249344" cy="293654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向下箭號 30"/>
          <p:cNvSpPr/>
          <p:nvPr/>
        </p:nvSpPr>
        <p:spPr>
          <a:xfrm>
            <a:off x="4611276" y="4007199"/>
            <a:ext cx="249344" cy="293654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向下箭號 31"/>
          <p:cNvSpPr/>
          <p:nvPr/>
        </p:nvSpPr>
        <p:spPr>
          <a:xfrm>
            <a:off x="4610688" y="5135877"/>
            <a:ext cx="249344" cy="293654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02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188913"/>
            <a:ext cx="8928992" cy="1143000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5-3</a:t>
            </a:r>
            <a:r>
              <a:rPr lang="en-US" altLang="zh-TW" dirty="0" smtClean="0"/>
              <a:t>【</a:t>
            </a:r>
            <a:r>
              <a:rPr lang="zh-TW" altLang="en-US" dirty="0" smtClean="0"/>
              <a:t>資料科學</a:t>
            </a:r>
            <a:r>
              <a:rPr lang="en-US" altLang="zh-TW" dirty="0" smtClean="0"/>
              <a:t>】 </a:t>
            </a:r>
            <a:br>
              <a:rPr lang="en-US" altLang="zh-TW" dirty="0" smtClean="0"/>
            </a:br>
            <a:r>
              <a:rPr lang="zh-TW" altLang="en-US" dirty="0" smtClean="0"/>
              <a:t>資料的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zh-TW" altLang="en-US" dirty="0"/>
              <a:t>標準化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」</a:t>
            </a:r>
            <a:r>
              <a:rPr lang="zh-TW" altLang="en-US" dirty="0" smtClean="0"/>
              <a:t>與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「</a:t>
            </a:r>
            <a:r>
              <a:rPr lang="zh-TW" altLang="en-US" dirty="0"/>
              <a:t>正規化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」</a:t>
            </a:r>
            <a:r>
              <a:rPr lang="en-US" altLang="zh-TW" dirty="0" smtClean="0">
                <a:solidFill>
                  <a:srgbClr val="0000FF"/>
                </a:solidFill>
              </a:rPr>
              <a:t>Why?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  <p:sp>
        <p:nvSpPr>
          <p:cNvPr id="5" name="矩形 4">
            <a:hlinkClick r:id="rId2"/>
          </p:cNvPr>
          <p:cNvSpPr/>
          <p:nvPr/>
        </p:nvSpPr>
        <p:spPr>
          <a:xfrm>
            <a:off x="971600" y="6204028"/>
            <a:ext cx="7848352" cy="432048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資料的標準化</a:t>
            </a:r>
            <a:r>
              <a:rPr lang="en-US" altLang="zh-TW" dirty="0"/>
              <a:t>(</a:t>
            </a:r>
            <a:r>
              <a:rPr lang="en-US" altLang="zh-TW" b="1" dirty="0"/>
              <a:t>Standardization</a:t>
            </a:r>
            <a:r>
              <a:rPr lang="en-US" altLang="zh-TW" b="1" dirty="0" smtClean="0"/>
              <a:t>)</a:t>
            </a:r>
            <a:r>
              <a:rPr lang="zh-TW" altLang="en-US" dirty="0" smtClean="0"/>
              <a:t>與</a:t>
            </a:r>
            <a:r>
              <a:rPr lang="zh-TW" altLang="en-US" dirty="0"/>
              <a:t>正規</a:t>
            </a:r>
            <a:r>
              <a:rPr lang="zh-TW" altLang="en-US" dirty="0" smtClean="0"/>
              <a:t>化</a:t>
            </a:r>
            <a:r>
              <a:rPr lang="en-US" altLang="zh-TW" dirty="0" smtClean="0"/>
              <a:t>(</a:t>
            </a:r>
            <a:r>
              <a:rPr lang="en-US" altLang="zh-TW" b="1" dirty="0" smtClean="0"/>
              <a:t>Normalization)</a:t>
            </a:r>
            <a:endParaRPr lang="zh-TW" altLang="en-US" dirty="0"/>
          </a:p>
        </p:txBody>
      </p:sp>
      <p:pic>
        <p:nvPicPr>
          <p:cNvPr id="10" name="內容版面配置區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06557" y="2039399"/>
            <a:ext cx="7285714" cy="3457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橢圓 10"/>
          <p:cNvSpPr/>
          <p:nvPr/>
        </p:nvSpPr>
        <p:spPr>
          <a:xfrm>
            <a:off x="6990083" y="2580248"/>
            <a:ext cx="1008112" cy="1008112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045867" y="2580248"/>
            <a:ext cx="1008112" cy="1008112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4218034" y="3625153"/>
            <a:ext cx="1008112" cy="1008112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067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2" y="1124744"/>
            <a:ext cx="7693025" cy="4374370"/>
          </a:xfrm>
        </p:spPr>
        <p:txBody>
          <a:bodyPr/>
          <a:lstStyle/>
          <a:p>
            <a:r>
              <a:rPr lang="zh-TW" altLang="en-US" dirty="0" smtClean="0"/>
              <a:t>是</a:t>
            </a:r>
            <a:r>
              <a:rPr lang="zh-TW" altLang="en-US" dirty="0"/>
              <a:t>將原始資料的數據</a:t>
            </a:r>
            <a:r>
              <a:rPr lang="zh-TW" altLang="en-US" dirty="0">
                <a:solidFill>
                  <a:srgbClr val="FF0000"/>
                </a:solidFill>
              </a:rPr>
              <a:t>按比例縮放於 </a:t>
            </a:r>
            <a:r>
              <a:rPr lang="en-US" altLang="zh-TW" dirty="0"/>
              <a:t>[0, 1</a:t>
            </a:r>
            <a:r>
              <a:rPr lang="en-US" altLang="zh-TW" dirty="0" smtClean="0"/>
              <a:t>]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/>
              <a:t> </a:t>
            </a:r>
            <a:r>
              <a:rPr lang="en-US" altLang="zh-TW" dirty="0" smtClean="0"/>
              <a:t>[-1, </a:t>
            </a:r>
            <a:r>
              <a:rPr lang="en-US" altLang="zh-TW" dirty="0"/>
              <a:t>1] </a:t>
            </a:r>
            <a:r>
              <a:rPr lang="zh-TW" altLang="en-US" dirty="0"/>
              <a:t>區間中，且不改變其原本分佈。</a:t>
            </a:r>
          </a:p>
          <a:p>
            <a:r>
              <a:rPr lang="zh-TW" altLang="en-US" dirty="0" smtClean="0"/>
              <a:t>兩</a:t>
            </a:r>
            <a:r>
              <a:rPr lang="zh-TW" altLang="en-US" dirty="0"/>
              <a:t>組資料將同時轉換成</a:t>
            </a:r>
            <a:r>
              <a:rPr lang="zh-TW" altLang="en-US" dirty="0">
                <a:solidFill>
                  <a:srgbClr val="0000FF"/>
                </a:solidFill>
              </a:rPr>
              <a:t>純量</a:t>
            </a:r>
            <a:r>
              <a:rPr lang="zh-TW" altLang="en-US" dirty="0"/>
              <a:t>縮放於 </a:t>
            </a:r>
            <a:r>
              <a:rPr lang="en-US" altLang="zh-TW" dirty="0"/>
              <a:t>[0,1]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/>
              <a:t> [-1, 1]</a:t>
            </a:r>
            <a:r>
              <a:rPr lang="zh-TW" altLang="en-US" dirty="0" smtClean="0"/>
              <a:t>區間</a:t>
            </a:r>
            <a:r>
              <a:rPr lang="zh-TW" altLang="en-US" dirty="0"/>
              <a:t>中，</a:t>
            </a:r>
            <a:r>
              <a:rPr lang="zh-TW" altLang="en-US" dirty="0">
                <a:solidFill>
                  <a:srgbClr val="FF0000"/>
                </a:solidFill>
              </a:rPr>
              <a:t>能排除資料單位的限制</a:t>
            </a:r>
            <a:r>
              <a:rPr lang="zh-TW" altLang="en-US" dirty="0"/>
              <a:t>，提供我們一個相同的基準來進行後續比較分析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921201"/>
              </p:ext>
            </p:extLst>
          </p:nvPr>
        </p:nvGraphicFramePr>
        <p:xfrm>
          <a:off x="4927600" y="27940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Equation" r:id="rId3" imgW="914400" imgH="306720" progId="Equation.DSMT4">
                  <p:embed/>
                </p:oleObj>
              </mc:Choice>
              <mc:Fallback>
                <p:oleObj name="Equation" r:id="rId3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27600" y="27940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3204366" y="48349"/>
            <a:ext cx="5726751" cy="834238"/>
          </a:xfrm>
          <a:ln w="31750">
            <a:solidFill>
              <a:srgbClr val="FFC000"/>
            </a:solidFill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zh-TW" altLang="en-US" dirty="0" smtClean="0"/>
              <a:t>標準化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/>
              <a:t>正規化的目的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400" y="3789040"/>
            <a:ext cx="7474399" cy="280196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72652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1398097" y="896335"/>
                <a:ext cx="6985000" cy="926976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變</m:t>
                      </m:r>
                      <m:r>
                        <a:rPr lang="zh-TW" alt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數採用</m:t>
                      </m:r>
                      <m:r>
                        <a:rPr lang="zh-TW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資料「標準</m:t>
                      </m:r>
                      <m:r>
                        <a:rPr lang="zh-TW" alt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化</m:t>
                      </m:r>
                      <m:r>
                        <a:rPr lang="zh-TW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」</m:t>
                      </m:r>
                      <m:r>
                        <a:rPr lang="zh-TW" alt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變換</m:t>
                      </m:r>
                    </m:oMath>
                  </m:oMathPara>
                </a14:m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98097" y="896335"/>
                <a:ext cx="6985000" cy="92697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  <p:sp>
        <p:nvSpPr>
          <p:cNvPr id="6" name="矩形 5">
            <a:hlinkClick r:id="rId3"/>
          </p:cNvPr>
          <p:cNvSpPr/>
          <p:nvPr/>
        </p:nvSpPr>
        <p:spPr>
          <a:xfrm>
            <a:off x="1128712" y="6309320"/>
            <a:ext cx="7704856" cy="439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1600" b="1" dirty="0" smtClean="0">
              <a:solidFill>
                <a:srgbClr val="0000FF"/>
              </a:solidFill>
            </a:endParaRPr>
          </a:p>
          <a:p>
            <a:pPr algn="ctr"/>
            <a:r>
              <a:rPr lang="zh-TW" altLang="en-US" sz="1600" b="1" dirty="0" smtClean="0">
                <a:solidFill>
                  <a:srgbClr val="0000FF"/>
                </a:solidFill>
              </a:rPr>
              <a:t>機器學習中為什麼資料</a:t>
            </a:r>
            <a:r>
              <a:rPr lang="zh-TW" altLang="en-US" sz="1600" b="1" dirty="0">
                <a:solidFill>
                  <a:srgbClr val="0000FF"/>
                </a:solidFill>
              </a:rPr>
              <a:t>常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要作規範化</a:t>
            </a:r>
            <a:r>
              <a:rPr lang="en-US" altLang="zh-TW" sz="1600" b="1" dirty="0" smtClean="0">
                <a:solidFill>
                  <a:srgbClr val="0000FF"/>
                </a:solidFill>
              </a:rPr>
              <a:t>: 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中心化</a:t>
            </a:r>
            <a:r>
              <a:rPr lang="zh-TW" altLang="en-US" sz="16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標準化</a:t>
            </a:r>
            <a:r>
              <a:rPr lang="zh-TW" altLang="en-US" sz="16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歸</a:t>
            </a:r>
            <a:r>
              <a:rPr lang="zh-TW" altLang="en-US" sz="1600" b="1" dirty="0">
                <a:solidFill>
                  <a:srgbClr val="0000FF"/>
                </a:solidFill>
              </a:rPr>
              <a:t>一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化</a:t>
            </a:r>
            <a:r>
              <a:rPr lang="zh-TW" altLang="en-US" sz="16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1600" b="1" dirty="0" smtClean="0">
                <a:solidFill>
                  <a:srgbClr val="0000FF"/>
                </a:solidFill>
              </a:rPr>
              <a:t>正規化</a:t>
            </a:r>
            <a:endParaRPr lang="zh-TW" altLang="en-US" sz="1600" b="1" dirty="0">
              <a:solidFill>
                <a:srgbClr val="0000FF"/>
              </a:solidFill>
            </a:endParaRPr>
          </a:p>
          <a:p>
            <a:pPr algn="ctr"/>
            <a:endParaRPr lang="zh-TW" altLang="en-US" dirty="0"/>
          </a:p>
        </p:txBody>
      </p:sp>
      <p:sp>
        <p:nvSpPr>
          <p:cNvPr id="7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5-3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實例一：旅行社個案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1510864" y="4941168"/>
                <a:ext cx="6259278" cy="1183786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變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數採用</m:t>
                                </m:r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資料標準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化</m:t>
                                </m:r>
                                <m:r>
                                  <a:rPr lang="zh-TW" altLang="en-US" i="0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變換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e>
                              <m:e>
                                <m:r>
                                  <a:rPr lang="zh-TW" alt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TW" altLang="en-US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′=(</m:t>
                                </m:r>
                                <m:r>
                                  <a:rPr lang="zh-TW" alt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TW" altLang="en-US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平均值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zh-TW" alt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TW" altLang="en-US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zh-TW" altLang="en-US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標</m:t>
                                    </m:r>
                                  </m:den>
                                </m:f>
                                <m:r>
                                  <a:rPr lang="zh-TW" altLang="en-US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準差</m:t>
                                </m:r>
                              </m:e>
                              <m:e>
                                <m:r>
                                  <a:rPr lang="zh-TW" altLang="en-US" b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還原</m:t>
                                </m:r>
                                <m:r>
                                  <a:rPr lang="zh-TW" altLang="en-US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zh-TW" alt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TW" alt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′∗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標準差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TW" altLang="en-US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平均值</m:t>
                                </m:r>
                              </m:e>
                            </m:eqArr>
                            <m:r>
                              <m:rPr>
                                <m:nor/>
                              </m:rPr>
                              <a:rPr lang="en-US" altLang="zh-TW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altLang="zh-TW"/>
                              <m:t>′=[−1.27, 1.27, 0.63, −0.63]</m:t>
                            </m:r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864" y="4941168"/>
                <a:ext cx="6259278" cy="1183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8" y="2204864"/>
            <a:ext cx="8975354" cy="23022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916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91680" y="202489"/>
            <a:ext cx="7026696" cy="834238"/>
          </a:xfrm>
          <a:ln w="31750">
            <a:solidFill>
              <a:srgbClr val="FFC000"/>
            </a:solidFill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zh-TW" altLang="en-US" dirty="0"/>
              <a:t>資料</a:t>
            </a:r>
            <a:r>
              <a:rPr lang="zh-TW" altLang="en-US" dirty="0" smtClean="0"/>
              <a:t>前處理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/>
              <a:t>標準化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/>
              <a:t>正規化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584" y="1218123"/>
            <a:ext cx="7693025" cy="453650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Standardization(</a:t>
            </a:r>
            <a:r>
              <a:rPr lang="zh-TW" altLang="en-US" dirty="0">
                <a:solidFill>
                  <a:srgbClr val="FF0000"/>
                </a:solidFill>
              </a:rPr>
              <a:t>標準化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zh-TW" altLang="en-US" dirty="0" smtClean="0"/>
              <a:t>經過標準化的資料</a:t>
            </a:r>
            <a:r>
              <a:rPr lang="zh-TW" altLang="en-US" dirty="0"/>
              <a:t>的平均值會變為</a:t>
            </a:r>
            <a:r>
              <a:rPr lang="en-US" altLang="zh-TW" dirty="0"/>
              <a:t>0, </a:t>
            </a:r>
            <a:r>
              <a:rPr lang="zh-TW" altLang="en-US" dirty="0"/>
              <a:t>標準差變為</a:t>
            </a:r>
            <a:r>
              <a:rPr lang="en-US" altLang="zh-TW" dirty="0" smtClean="0"/>
              <a:t>1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Normalization(</a:t>
            </a:r>
            <a:r>
              <a:rPr lang="zh-TW" altLang="en-US" dirty="0">
                <a:solidFill>
                  <a:srgbClr val="FF0000"/>
                </a:solidFill>
              </a:rPr>
              <a:t>正規化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zh-TW" altLang="en-US" b="1" dirty="0"/>
              <a:t>最小值最大值正規化</a:t>
            </a:r>
            <a:endParaRPr lang="en-US" altLang="zh-TW" b="1" dirty="0"/>
          </a:p>
          <a:p>
            <a:pPr lvl="2"/>
            <a:r>
              <a:rPr lang="zh-TW" altLang="en-US" dirty="0"/>
              <a:t>將資料等比例縮放到 </a:t>
            </a:r>
            <a:r>
              <a:rPr lang="en-US" altLang="zh-TW" dirty="0">
                <a:solidFill>
                  <a:srgbClr val="0000FF"/>
                </a:solidFill>
              </a:rPr>
              <a:t>[0, 1</a:t>
            </a:r>
            <a:r>
              <a:rPr lang="en-US" altLang="zh-TW" dirty="0" smtClean="0">
                <a:solidFill>
                  <a:srgbClr val="0000FF"/>
                </a:solidFill>
              </a:rPr>
              <a:t>]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</a:rPr>
              <a:t>[-1, </a:t>
            </a:r>
            <a:r>
              <a:rPr lang="en-US" altLang="zh-TW" dirty="0">
                <a:solidFill>
                  <a:srgbClr val="0000FF"/>
                </a:solidFill>
              </a:rPr>
              <a:t>1]</a:t>
            </a:r>
            <a:r>
              <a:rPr lang="zh-TW" altLang="en-US" dirty="0" smtClean="0"/>
              <a:t>區間</a:t>
            </a:r>
            <a:r>
              <a:rPr lang="zh-TW" altLang="en-US" dirty="0"/>
              <a:t>中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899592" y="6453336"/>
            <a:ext cx="7467323" cy="3307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rgbClr val="FF0000"/>
                </a:solidFill>
                <a:hlinkClick r:id="rId2"/>
              </a:rPr>
              <a:t>資料</a:t>
            </a:r>
            <a:r>
              <a:rPr lang="zh-TW" altLang="en-US" dirty="0" smtClean="0">
                <a:solidFill>
                  <a:srgbClr val="FF0000"/>
                </a:solidFill>
                <a:hlinkClick r:id="rId2"/>
              </a:rPr>
              <a:t>前處理</a:t>
            </a:r>
            <a:r>
              <a:rPr lang="en-US" altLang="zh-TW" dirty="0">
                <a:hlinkClick r:id="rId2"/>
              </a:rPr>
              <a:t>(Missing data</a:t>
            </a:r>
            <a:r>
              <a:rPr lang="en-US" altLang="zh-TW" dirty="0" smtClean="0">
                <a:hlinkClick r:id="rId2"/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  <a:hlinkClick r:id="rId2"/>
              </a:rPr>
              <a:t>、</a:t>
            </a:r>
            <a:r>
              <a:rPr lang="zh-TW" altLang="en-US" dirty="0">
                <a:solidFill>
                  <a:srgbClr val="FF0000"/>
                </a:solidFill>
                <a:hlinkClick r:id="rId2"/>
              </a:rPr>
              <a:t>正規化、</a:t>
            </a:r>
            <a:r>
              <a:rPr lang="zh-TW" altLang="en-US" dirty="0" smtClean="0">
                <a:solidFill>
                  <a:srgbClr val="FF0000"/>
                </a:solidFill>
                <a:hlinkClick r:id="rId2"/>
              </a:rPr>
              <a:t>標準化  </a:t>
            </a:r>
            <a:r>
              <a:rPr lang="en-US" altLang="zh-TW" dirty="0" smtClean="0"/>
              <a:t>https</a:t>
            </a:r>
            <a:r>
              <a:rPr lang="en-US" altLang="zh-TW" dirty="0"/>
              <a:t>://reurl.cc/8pKvYj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1740876"/>
            <a:ext cx="2765060" cy="93299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018" y="5361994"/>
            <a:ext cx="3096344" cy="864396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741" y="5377655"/>
            <a:ext cx="3639175" cy="864395"/>
          </a:xfrm>
          <a:prstGeom prst="rect">
            <a:avLst/>
          </a:prstGeom>
          <a:ln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146412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相關連結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5576" y="1988840"/>
            <a:ext cx="8316912" cy="3724275"/>
          </a:xfrm>
        </p:spPr>
        <p:txBody>
          <a:bodyPr/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算術平均數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https://reurl.cc/QblAGO</a:t>
            </a:r>
          </a:p>
          <a:p>
            <a:r>
              <a:rPr lang="zh-TW" altLang="en-US" dirty="0" smtClean="0">
                <a:solidFill>
                  <a:srgbClr val="FF0000"/>
                </a:solidFill>
              </a:rPr>
              <a:t>標準差</a:t>
            </a:r>
            <a:r>
              <a:rPr lang="zh-TW" altLang="en-US" dirty="0" smtClean="0"/>
              <a:t> </a:t>
            </a:r>
            <a:r>
              <a:rPr lang="en-US" altLang="zh-TW" dirty="0" smtClean="0">
                <a:hlinkClick r:id="rId2"/>
              </a:rPr>
              <a:t>https://reurl.cc/V1ZOjR</a:t>
            </a:r>
            <a:endParaRPr lang="en-US" altLang="zh-TW" dirty="0" smtClean="0"/>
          </a:p>
          <a:p>
            <a:pPr lvl="1"/>
            <a:r>
              <a:rPr lang="zh-TW" altLang="en-US" dirty="0"/>
              <a:t>作為測量一組數值的離散程度 </a:t>
            </a:r>
            <a:endParaRPr lang="en-US" altLang="zh-TW" dirty="0"/>
          </a:p>
          <a:p>
            <a:r>
              <a:rPr lang="zh-TW" altLang="en-US" dirty="0" smtClean="0">
                <a:solidFill>
                  <a:srgbClr val="FF0000"/>
                </a:solidFill>
              </a:rPr>
              <a:t>資料</a:t>
            </a:r>
            <a:r>
              <a:rPr lang="zh-TW" altLang="en-US" dirty="0">
                <a:solidFill>
                  <a:srgbClr val="FF0000"/>
                </a:solidFill>
              </a:rPr>
              <a:t>正規化及</a:t>
            </a:r>
            <a:r>
              <a:rPr lang="zh-TW" altLang="en-US" dirty="0" smtClean="0">
                <a:solidFill>
                  <a:srgbClr val="FF0000"/>
                </a:solidFill>
              </a:rPr>
              <a:t>標準化</a:t>
            </a:r>
            <a:r>
              <a:rPr lang="en-US" altLang="zh-TW" dirty="0" smtClean="0">
                <a:solidFill>
                  <a:srgbClr val="FF0000"/>
                </a:solidFill>
                <a:hlinkClick r:id="rId3"/>
              </a:rPr>
              <a:t> </a:t>
            </a:r>
            <a:r>
              <a:rPr lang="en-US" altLang="zh-TW" dirty="0">
                <a:solidFill>
                  <a:srgbClr val="FF0000"/>
                </a:solidFill>
                <a:hlinkClick r:id="rId3"/>
              </a:rPr>
              <a:t>	</a:t>
            </a:r>
            <a:r>
              <a:rPr lang="en-US" altLang="zh-TW" dirty="0" smtClean="0">
                <a:hlinkClick r:id="rId3"/>
              </a:rPr>
              <a:t>https://reurl.cc/xQbMvN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>
                <a:solidFill>
                  <a:srgbClr val="0000FF"/>
                </a:solidFill>
              </a:rPr>
              <a:t>【</a:t>
            </a:r>
            <a:r>
              <a:rPr lang="zh-TW" altLang="en-US" dirty="0">
                <a:solidFill>
                  <a:srgbClr val="0000FF"/>
                </a:solidFill>
              </a:rPr>
              <a:t>資料科學</a:t>
            </a:r>
            <a:r>
              <a:rPr lang="en-US" altLang="zh-TW" dirty="0" smtClean="0">
                <a:solidFill>
                  <a:srgbClr val="0000FF"/>
                </a:solidFill>
              </a:rPr>
              <a:t>】</a:t>
            </a:r>
            <a:r>
              <a:rPr lang="en-US" altLang="zh-TW" dirty="0" smtClean="0">
                <a:solidFill>
                  <a:srgbClr val="0000FF"/>
                </a:solidFill>
                <a:hlinkClick r:id="rId4"/>
              </a:rPr>
              <a:t>https://reurl.cc/NR8dKx</a:t>
            </a:r>
            <a:endParaRPr lang="en-US" altLang="zh-TW" dirty="0" smtClean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7704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5-3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實例一：旅行社個案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66213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5-3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實例一之數據分布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（圖中的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Income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原始尺度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0" t="30604" r="37114" b="17673"/>
          <a:stretch/>
        </p:blipFill>
        <p:spPr bwMode="auto">
          <a:xfrm>
            <a:off x="1691680" y="1196752"/>
            <a:ext cx="6480000" cy="4829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267744" y="908720"/>
            <a:ext cx="540060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配合</a:t>
            </a:r>
            <a:r>
              <a:rPr lang="en-US" altLang="zh-TW" dirty="0" smtClean="0">
                <a:solidFill>
                  <a:srgbClr val="0000FF"/>
                </a:solidFill>
              </a:rPr>
              <a:t>Excel</a:t>
            </a:r>
            <a:r>
              <a:rPr lang="zh-TW" altLang="en-US" dirty="0" smtClean="0">
                <a:solidFill>
                  <a:srgbClr val="0000FF"/>
                </a:solidFill>
              </a:rPr>
              <a:t>檔案一起參考</a:t>
            </a:r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  <a:endParaRPr lang="zh-TW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67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817174" y="5776957"/>
            <a:ext cx="65631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5-4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實例一之聚類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結果</a:t>
            </a:r>
            <a:endPara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Income 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已經採用標準正規化變換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 (min) (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優化後</a:t>
            </a:r>
            <a:r>
              <a:rPr lang="en-US" altLang="zh-TW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16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最後結果 如右表</a:t>
            </a:r>
            <a:endParaRPr lang="zh-TW" altLang="en-US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28" t="24785" r="37113" b="24138"/>
          <a:stretch/>
        </p:blipFill>
        <p:spPr bwMode="auto">
          <a:xfrm>
            <a:off x="1619672" y="905476"/>
            <a:ext cx="6480000" cy="4740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275856" y="260648"/>
            <a:ext cx="554461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變數均採用標準正規化 </a:t>
            </a:r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方法請參考</a:t>
            </a:r>
            <a:r>
              <a:rPr lang="zh-TW" altLang="en-US" dirty="0">
                <a:solidFill>
                  <a:srgbClr val="0000FF"/>
                </a:solidFill>
              </a:rPr>
              <a:t>配合</a:t>
            </a:r>
            <a:r>
              <a:rPr lang="en-US" altLang="zh-TW" dirty="0">
                <a:solidFill>
                  <a:srgbClr val="0000FF"/>
                </a:solidFill>
              </a:rPr>
              <a:t>Excel</a:t>
            </a:r>
            <a:r>
              <a:rPr lang="zh-TW" altLang="en-US" dirty="0" smtClean="0">
                <a:solidFill>
                  <a:srgbClr val="0000FF"/>
                </a:solidFill>
              </a:rPr>
              <a:t>檔案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  <a:endParaRPr lang="zh-TW" altLang="en-US" dirty="0">
              <a:solidFill>
                <a:srgbClr val="0000FF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5740524"/>
            <a:ext cx="3266667" cy="990476"/>
          </a:xfrm>
          <a:prstGeom prst="rect">
            <a:avLst/>
          </a:prstGeom>
          <a:ln w="1270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47615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26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37444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5-3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各聚類的意義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2" t="42241" r="51896" b="33405"/>
          <a:stretch/>
        </p:blipFill>
        <p:spPr bwMode="auto">
          <a:xfrm>
            <a:off x="4114906" y="1289906"/>
            <a:ext cx="4536504" cy="1653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3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275856" y="188640"/>
                <a:ext cx="5609613" cy="642676"/>
              </a:xfrm>
              <a:prstGeom prst="rect">
                <a:avLst/>
              </a:prstGeom>
              <a:ln w="127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變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數採用標準正規化變換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′=(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平均值</m:t>
                            </m:r>
                            <m:f>
                              <m:fPr>
                                <m:type m:val="lin"/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標</m:t>
                                </m:r>
                              </m:den>
                            </m:f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準差</m:t>
                            </m:r>
                          </m:e>
                        </m:mr>
                        <m:mr>
                          <m:e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還原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′∗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標準差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平均值</m:t>
                            </m:r>
                          </m:e>
                        </m:mr>
                      </m:m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188640"/>
                <a:ext cx="5609613" cy="6426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70" t="30604" r="37114" b="17673"/>
          <a:stretch/>
        </p:blipFill>
        <p:spPr bwMode="auto">
          <a:xfrm>
            <a:off x="4114906" y="3049039"/>
            <a:ext cx="4971608" cy="3705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899592" y="1351340"/>
            <a:ext cx="2520280" cy="1530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 smtClean="0">
                <a:solidFill>
                  <a:srgbClr val="FF0000"/>
                </a:solidFill>
                <a:latin typeface="+mn-ea"/>
              </a:rPr>
              <a:t>最後的</a:t>
            </a:r>
            <a:r>
              <a:rPr lang="en-US" altLang="zh-TW" sz="2400" b="1" dirty="0" smtClean="0">
                <a:solidFill>
                  <a:srgbClr val="FF0000"/>
                </a:solidFill>
                <a:latin typeface="+mn-ea"/>
              </a:rPr>
              <a:t>Outcome</a:t>
            </a:r>
            <a:endParaRPr lang="zh-TW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等腰三角形 9"/>
          <p:cNvSpPr/>
          <p:nvPr/>
        </p:nvSpPr>
        <p:spPr>
          <a:xfrm>
            <a:off x="6312678" y="5161260"/>
            <a:ext cx="275546" cy="21154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smtClean="0">
                <a:solidFill>
                  <a:srgbClr val="FF0000"/>
                </a:solidFill>
              </a:rPr>
              <a:t>1</a:t>
            </a:r>
            <a:endParaRPr lang="zh-TW" altLang="en-US" sz="900" dirty="0">
              <a:solidFill>
                <a:srgbClr val="FF0000"/>
              </a:solidFill>
            </a:endParaRPr>
          </a:p>
        </p:txBody>
      </p:sp>
      <p:sp>
        <p:nvSpPr>
          <p:cNvPr id="12" name="等腰三角形 11"/>
          <p:cNvSpPr/>
          <p:nvPr/>
        </p:nvSpPr>
        <p:spPr>
          <a:xfrm>
            <a:off x="7884368" y="5299268"/>
            <a:ext cx="279648" cy="29641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smtClean="0">
                <a:solidFill>
                  <a:srgbClr val="FF0000"/>
                </a:solidFill>
              </a:rPr>
              <a:t>3</a:t>
            </a:r>
            <a:endParaRPr lang="zh-TW" altLang="en-US" sz="900" dirty="0">
              <a:solidFill>
                <a:srgbClr val="FF0000"/>
              </a:solidFill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7380312" y="4492352"/>
            <a:ext cx="271264" cy="23279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smtClean="0">
                <a:solidFill>
                  <a:srgbClr val="FF0000"/>
                </a:solidFill>
              </a:rPr>
              <a:t>2</a:t>
            </a:r>
            <a:endParaRPr lang="zh-TW" altLang="en-US" sz="900" dirty="0">
              <a:solidFill>
                <a:srgbClr val="FF0000"/>
              </a:solidFill>
            </a:endParaRPr>
          </a:p>
        </p:txBody>
      </p:sp>
      <p:sp>
        <p:nvSpPr>
          <p:cNvPr id="11" name="向右箭號 10"/>
          <p:cNvSpPr/>
          <p:nvPr/>
        </p:nvSpPr>
        <p:spPr>
          <a:xfrm>
            <a:off x="3491880" y="2092220"/>
            <a:ext cx="551018" cy="216024"/>
          </a:xfrm>
          <a:prstGeom prst="right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8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27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5-4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實例二：書局行銷個案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9" t="18535" r="39052" b="8836"/>
          <a:stretch/>
        </p:blipFill>
        <p:spPr bwMode="auto">
          <a:xfrm>
            <a:off x="1691680" y="924332"/>
            <a:ext cx="6589987" cy="5312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220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28</a:t>
            </a:fld>
            <a:endParaRPr lang="en-US" altLang="zh-TW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9" t="18535" r="36386" b="9698"/>
          <a:stretch/>
        </p:blipFill>
        <p:spPr bwMode="auto">
          <a:xfrm>
            <a:off x="1512244" y="908720"/>
            <a:ext cx="6936829" cy="5249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869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900" t="18858" r="36005" b="7973"/>
          <a:stretch/>
        </p:blipFill>
        <p:spPr bwMode="auto">
          <a:xfrm>
            <a:off x="1979713" y="882868"/>
            <a:ext cx="5346918" cy="5352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5576" y="6211669"/>
            <a:ext cx="5544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5-5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聚類特徵圖（雷達圖）（圖中的變數已經採用標準正規化變換</a:t>
            </a:r>
            <a:r>
              <a:rPr lang="zh-TW" altLang="en-US" dirty="0"/>
              <a:t>）</a:t>
            </a:r>
          </a:p>
        </p:txBody>
      </p:sp>
      <p:sp>
        <p:nvSpPr>
          <p:cNvPr id="6" name="AutoShape 35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4039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30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16632"/>
            <a:ext cx="83550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5-5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實例三：公民意見分析個案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8" t="17027" r="45595" b="6250"/>
          <a:stretch/>
        </p:blipFill>
        <p:spPr bwMode="auto">
          <a:xfrm>
            <a:off x="3730467" y="988890"/>
            <a:ext cx="5278653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454318" y="686965"/>
            <a:ext cx="1830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5-4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問卷題目</a:t>
            </a:r>
          </a:p>
        </p:txBody>
      </p:sp>
      <p:sp>
        <p:nvSpPr>
          <p:cNvPr id="3" name="矩形 2"/>
          <p:cNvSpPr/>
          <p:nvPr/>
        </p:nvSpPr>
        <p:spPr>
          <a:xfrm>
            <a:off x="2753592" y="6442968"/>
            <a:ext cx="6264696" cy="288032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Excel-</a:t>
            </a:r>
            <a:r>
              <a:rPr lang="en-US" altLang="zh-TW" dirty="0"/>
              <a:t>SUMXMY2 </a:t>
            </a:r>
            <a:r>
              <a:rPr lang="zh-TW" altLang="en-US" dirty="0" smtClean="0"/>
              <a:t>函數</a:t>
            </a:r>
            <a:r>
              <a:rPr lang="en-US" altLang="zh-TW" dirty="0" smtClean="0"/>
              <a:t>: </a:t>
            </a:r>
            <a:r>
              <a:rPr lang="zh-TW" altLang="en-US" dirty="0" smtClean="0"/>
              <a:t>傳回</a:t>
            </a:r>
            <a:r>
              <a:rPr lang="zh-TW" altLang="en-US" dirty="0"/>
              <a:t>兩個陣列</a:t>
            </a:r>
            <a:r>
              <a:rPr lang="zh-TW" altLang="en-US" dirty="0">
                <a:hlinkClick r:id="rId3"/>
              </a:rPr>
              <a:t>中</a:t>
            </a:r>
            <a:r>
              <a:rPr lang="zh-TW" altLang="en-US" dirty="0"/>
              <a:t>對應數值差的平方和</a:t>
            </a:r>
          </a:p>
        </p:txBody>
      </p:sp>
      <p:sp>
        <p:nvSpPr>
          <p:cNvPr id="6" name="矩形 5"/>
          <p:cNvSpPr/>
          <p:nvPr/>
        </p:nvSpPr>
        <p:spPr>
          <a:xfrm>
            <a:off x="942755" y="2780928"/>
            <a:ext cx="2516470" cy="3240360"/>
          </a:xfrm>
          <a:prstGeom prst="rect">
            <a:avLst/>
          </a:prstGeom>
          <a:solidFill>
            <a:schemeClr val="accent3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u="sng" dirty="0" smtClean="0"/>
              <a:t>背景說明</a:t>
            </a:r>
            <a:r>
              <a:rPr lang="en-US" altLang="zh-TW" b="1" u="sng" dirty="0" smtClean="0"/>
              <a:t>:</a:t>
            </a:r>
          </a:p>
          <a:p>
            <a:pPr algn="ctr"/>
            <a:endParaRPr lang="en-US" altLang="zh-TW" b="1" u="sng" dirty="0" smtClean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雅虎奇摩為</a:t>
            </a:r>
            <a:r>
              <a:rPr lang="en-US" altLang="zh-TW" dirty="0" smtClean="0"/>
              <a:t>2008</a:t>
            </a:r>
            <a:r>
              <a:rPr lang="zh-TW" altLang="en-US" dirty="0" smtClean="0"/>
              <a:t>年立委選舉，針對</a:t>
            </a:r>
            <a:r>
              <a:rPr lang="en-US" altLang="zh-TW" dirty="0" smtClean="0"/>
              <a:t>20</a:t>
            </a:r>
            <a:r>
              <a:rPr lang="zh-TW" altLang="en-US" dirty="0" smtClean="0"/>
              <a:t>個公民關心的議題進行</a:t>
            </a:r>
            <a:r>
              <a:rPr lang="en-US" altLang="zh-TW" dirty="0" smtClean="0"/>
              <a:t>340</a:t>
            </a:r>
            <a:r>
              <a:rPr lang="zh-TW" altLang="en-US" dirty="0" smtClean="0"/>
              <a:t>位公民問卷。</a:t>
            </a:r>
            <a:endParaRPr lang="en-US" altLang="zh-TW" dirty="0" smtClean="0"/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以便對選民進行市場區隔，作為候選人政見的參考。</a:t>
            </a:r>
            <a:endParaRPr lang="en-US" altLang="zh-TW" dirty="0" smtClean="0"/>
          </a:p>
          <a:p>
            <a:r>
              <a:rPr lang="en-US" altLang="zh-TW" dirty="0" smtClean="0"/>
              <a:t>3. 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r>
              <a:rPr lang="zh-TW" altLang="en-US" dirty="0" smtClean="0">
                <a:solidFill>
                  <a:srgbClr val="FF0000"/>
                </a:solidFill>
              </a:rPr>
              <a:t>非常同意</a:t>
            </a:r>
            <a:r>
              <a:rPr lang="en-US" altLang="zh-TW" dirty="0" smtClean="0">
                <a:solidFill>
                  <a:srgbClr val="FF000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…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FF0000"/>
                </a:solidFill>
              </a:rPr>
              <a:t>、</a:t>
            </a:r>
            <a:r>
              <a:rPr lang="en-US" altLang="zh-TW" dirty="0">
                <a:solidFill>
                  <a:srgbClr val="FF0000"/>
                </a:solidFill>
              </a:rPr>
              <a:t>5</a:t>
            </a:r>
            <a:r>
              <a:rPr lang="zh-TW" altLang="en-US" dirty="0">
                <a:solidFill>
                  <a:srgbClr val="FF0000"/>
                </a:solidFill>
              </a:rPr>
              <a:t>非常不同意</a:t>
            </a:r>
          </a:p>
        </p:txBody>
      </p:sp>
      <p:sp>
        <p:nvSpPr>
          <p:cNvPr id="7" name="矩形 6"/>
          <p:cNvSpPr/>
          <p:nvPr/>
        </p:nvSpPr>
        <p:spPr>
          <a:xfrm>
            <a:off x="942755" y="990070"/>
            <a:ext cx="2516470" cy="114278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u="sng" dirty="0" smtClean="0"/>
              <a:t>目的</a:t>
            </a:r>
            <a:r>
              <a:rPr lang="en-US" altLang="zh-TW" b="1" u="sng" dirty="0" smtClean="0"/>
              <a:t>:</a:t>
            </a:r>
          </a:p>
          <a:p>
            <a:pPr algn="ctr"/>
            <a:endParaRPr lang="en-US" altLang="zh-TW" b="1" u="sng" dirty="0" smtClean="0"/>
          </a:p>
          <a:p>
            <a:r>
              <a:rPr lang="zh-TW" altLang="en-US" dirty="0" smtClean="0"/>
              <a:t>均</a:t>
            </a:r>
            <a:r>
              <a:rPr lang="zh-TW" altLang="en-US" dirty="0"/>
              <a:t>值</a:t>
            </a:r>
            <a:r>
              <a:rPr lang="en-US" altLang="zh-TW" dirty="0"/>
              <a:t>(K-means)</a:t>
            </a:r>
            <a:r>
              <a:rPr lang="zh-TW" altLang="en-US" dirty="0"/>
              <a:t>聚類</a:t>
            </a:r>
            <a:r>
              <a:rPr lang="zh-TW" altLang="en-US" dirty="0" smtClean="0"/>
              <a:t>分析以</a:t>
            </a:r>
            <a:r>
              <a:rPr lang="zh-TW" altLang="en-US" dirty="0"/>
              <a:t>雷達圖表現</a:t>
            </a:r>
          </a:p>
        </p:txBody>
      </p:sp>
    </p:spTree>
    <p:extLst>
      <p:ext uri="{BB962C8B-B14F-4D97-AF65-F5344CB8AC3E}">
        <p14:creationId xmlns:p14="http://schemas.microsoft.com/office/powerpoint/2010/main" val="143759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31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1691680" y="692696"/>
            <a:ext cx="6768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5-5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均值聚類分析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zh-TW" altLang="en-US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聚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類進行分析 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注意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個形心的座標</a:t>
            </a:r>
            <a:r>
              <a:rPr lang="en-US" altLang="zh-TW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br>
              <a:rPr lang="en-US" altLang="zh-TW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此案例中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群人數剛好很平均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2" t="16763" r="34447" b="6250"/>
          <a:stretch/>
        </p:blipFill>
        <p:spPr bwMode="auto">
          <a:xfrm>
            <a:off x="1835696" y="1259878"/>
            <a:ext cx="6333893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895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四聚類分析的聚類的特徵之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雷達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3" t="28017" r="22452" b="17242"/>
          <a:stretch/>
        </p:blipFill>
        <p:spPr bwMode="auto">
          <a:xfrm>
            <a:off x="971600" y="1556792"/>
            <a:ext cx="7920000" cy="3767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398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33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四聚類分析的聚類的特徵之雷達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3" t="33406" r="22452" b="14008"/>
          <a:stretch/>
        </p:blipFill>
        <p:spPr bwMode="auto">
          <a:xfrm>
            <a:off x="971600" y="1772816"/>
            <a:ext cx="7920000" cy="361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91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00113" y="188913"/>
            <a:ext cx="6985000" cy="503783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</a:rPr>
              <a:t>四個聚類</a:t>
            </a:r>
            <a:r>
              <a:rPr lang="en-US" altLang="zh-TW" dirty="0" smtClean="0">
                <a:solidFill>
                  <a:srgbClr val="0000FF"/>
                </a:solidFill>
              </a:rPr>
              <a:t>-</a:t>
            </a:r>
            <a:r>
              <a:rPr lang="zh-TW" altLang="en-US" dirty="0" smtClean="0">
                <a:solidFill>
                  <a:srgbClr val="0000FF"/>
                </a:solidFill>
              </a:rPr>
              <a:t>分析說明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C5BBF4-89AE-4E89-AA3E-65BBEA9B3789}" type="slidenum">
              <a:rPr lang="en-US" altLang="zh-TW" smtClean="0"/>
              <a:pPr>
                <a:defRPr/>
              </a:pPr>
              <a:t>34</a:t>
            </a:fld>
            <a:endParaRPr lang="en-US" altLang="zh-TW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646342"/>
            <a:ext cx="6652684" cy="308465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812754"/>
            <a:ext cx="6652684" cy="271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245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35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971600" y="764704"/>
            <a:ext cx="71304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均值聚類分析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六</a:t>
            </a:r>
            <a:r>
              <a:rPr lang="zh-TW" altLang="en-US" b="1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聚類進行分析 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注意六個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形心的座標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b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3" t="18319" r="26934" b="6884"/>
          <a:stretch/>
        </p:blipFill>
        <p:spPr bwMode="auto">
          <a:xfrm>
            <a:off x="1331640" y="1285336"/>
            <a:ext cx="7359554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469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36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5-7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六聚類分析的聚類的特徵之雷達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9" t="33190" r="19302" b="16164"/>
          <a:stretch/>
        </p:blipFill>
        <p:spPr bwMode="auto">
          <a:xfrm>
            <a:off x="1043608" y="1769721"/>
            <a:ext cx="7920000" cy="3459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456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37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5-7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六聚類分析的聚類的特徵之雷達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7" t="26940" r="19665" b="23491"/>
          <a:stretch/>
        </p:blipFill>
        <p:spPr bwMode="auto">
          <a:xfrm>
            <a:off x="971600" y="1837022"/>
            <a:ext cx="7920000" cy="3392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765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38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370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5-7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六聚類分析的聚類的特徵之雷達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圖中的變數為原始尺度）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9" t="26124" r="19544" b="24353"/>
          <a:stretch/>
        </p:blipFill>
        <p:spPr bwMode="auto">
          <a:xfrm>
            <a:off x="971600" y="1946623"/>
            <a:ext cx="7920000" cy="3395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343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39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139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四聚類分析與六聚類分析的比較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2" t="20689" r="19180" b="24569"/>
          <a:stretch/>
        </p:blipFill>
        <p:spPr bwMode="auto">
          <a:xfrm>
            <a:off x="972480" y="1700808"/>
            <a:ext cx="7920000" cy="374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115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40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139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四聚類分析與六聚類分析的比較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5" t="27371" r="19422" b="25000"/>
          <a:stretch/>
        </p:blipFill>
        <p:spPr bwMode="auto">
          <a:xfrm>
            <a:off x="1044488" y="2025869"/>
            <a:ext cx="7920000" cy="3290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331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41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139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四聚類分析與六聚類分析的比較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6" t="26077" r="19180" b="25216"/>
          <a:stretch/>
        </p:blipFill>
        <p:spPr bwMode="auto">
          <a:xfrm>
            <a:off x="1044488" y="1949299"/>
            <a:ext cx="7920000" cy="3351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387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42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139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四聚類分析與六聚類分析的比較</a:t>
            </a: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9" t="24354" r="19301" b="23922"/>
          <a:stretch/>
        </p:blipFill>
        <p:spPr bwMode="auto">
          <a:xfrm>
            <a:off x="972480" y="1794079"/>
            <a:ext cx="7920000" cy="3526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35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8151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43</a:t>
            </a:fld>
            <a:endParaRPr lang="en-US" altLang="zh-TW"/>
          </a:p>
        </p:txBody>
      </p:sp>
      <p:sp>
        <p:nvSpPr>
          <p:cNvPr id="5" name="文字方塊 1"/>
          <p:cNvSpPr txBox="1">
            <a:spLocks noChangeArrowheads="1"/>
          </p:cNvSpPr>
          <p:nvPr/>
        </p:nvSpPr>
        <p:spPr bwMode="auto">
          <a:xfrm flipH="1">
            <a:off x="788988" y="179388"/>
            <a:ext cx="835501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spcAft>
                <a:spcPts val="2000"/>
              </a:spcAft>
              <a:buClrTx/>
              <a:buSzTx/>
              <a:buFontTx/>
              <a:buNone/>
            </a:pP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實作單元 </a:t>
            </a: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A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TW" sz="4000" b="1" dirty="0">
                <a:latin typeface="微軟正黑體" pitchFamily="34" charset="-120"/>
                <a:ea typeface="微軟正黑體" pitchFamily="34" charset="-120"/>
              </a:rPr>
              <a:t>Excel </a:t>
            </a:r>
            <a:r>
              <a:rPr lang="zh-TW" altLang="en-US" sz="4000" b="1" dirty="0">
                <a:latin typeface="微軟正黑體" pitchFamily="34" charset="-120"/>
                <a:ea typeface="微軟正黑體" pitchFamily="34" charset="-120"/>
              </a:rPr>
              <a:t>資料探勘系統──均值聚類分析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5479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的規劃求解執行均值聚類分析的原理</a:t>
            </a:r>
          </a:p>
        </p:txBody>
      </p:sp>
      <p:sp>
        <p:nvSpPr>
          <p:cNvPr id="6" name="矩形 5"/>
          <p:cNvSpPr/>
          <p:nvPr/>
        </p:nvSpPr>
        <p:spPr>
          <a:xfrm>
            <a:off x="755576" y="133104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一、原理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85" t="65948" r="22694" b="21983"/>
          <a:stretch/>
        </p:blipFill>
        <p:spPr bwMode="auto">
          <a:xfrm>
            <a:off x="2560129" y="1561880"/>
            <a:ext cx="2175642" cy="882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755576" y="263691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二、方法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86" t="27632" r="31340" b="23168"/>
          <a:stretch/>
        </p:blipFill>
        <p:spPr bwMode="auto">
          <a:xfrm>
            <a:off x="2772280" y="3003027"/>
            <a:ext cx="4320000" cy="3081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504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44</a:t>
            </a:fld>
            <a:endParaRPr lang="en-US" altLang="zh-TW"/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094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A-2 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提供了三種規劃求解方法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5" t="16487" r="27463" b="5704"/>
          <a:stretch/>
        </p:blipFill>
        <p:spPr bwMode="auto">
          <a:xfrm>
            <a:off x="2023996" y="837312"/>
            <a:ext cx="5788364" cy="5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819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45</a:t>
            </a:fld>
            <a:endParaRPr lang="en-US" altLang="zh-TW"/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0" t="51509" r="24269" b="24245"/>
          <a:stretch/>
        </p:blipFill>
        <p:spPr bwMode="auto">
          <a:xfrm>
            <a:off x="1043608" y="3212976"/>
            <a:ext cx="7920000" cy="203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65" t="47047" r="9166" b="39017"/>
          <a:stretch/>
        </p:blipFill>
        <p:spPr bwMode="auto">
          <a:xfrm>
            <a:off x="1956672" y="1556792"/>
            <a:ext cx="5785946" cy="10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4880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46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三、實作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6" t="37500" r="62559" b="12069"/>
          <a:stretch/>
        </p:blipFill>
        <p:spPr bwMode="auto">
          <a:xfrm>
            <a:off x="1463462" y="1988840"/>
            <a:ext cx="2364829" cy="3689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90" t="34159" r="22010" b="12186"/>
          <a:stretch/>
        </p:blipFill>
        <p:spPr bwMode="auto">
          <a:xfrm>
            <a:off x="4512309" y="1846950"/>
            <a:ext cx="4319751" cy="3924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5576" y="6300028"/>
            <a:ext cx="4132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A-3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一個人為假設的「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聚類」例題</a:t>
            </a:r>
          </a:p>
        </p:txBody>
      </p:sp>
    </p:spTree>
    <p:extLst>
      <p:ext uri="{BB962C8B-B14F-4D97-AF65-F5344CB8AC3E}">
        <p14:creationId xmlns:p14="http://schemas.microsoft.com/office/powerpoint/2010/main" val="89185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47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四、實作一：新建系統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629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A-4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均值聚類分析試算表的各區功能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概述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961" t="17182" r="26272" b="10546"/>
          <a:stretch/>
        </p:blipFill>
        <p:spPr bwMode="auto">
          <a:xfrm>
            <a:off x="1979511" y="1196752"/>
            <a:ext cx="6048873" cy="50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147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48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9231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A-5(a)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將存放資料的試算表中的樣本編號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X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值分別貼到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A~C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323" t="27802" r="29722" b="26724"/>
          <a:stretch/>
        </p:blipFill>
        <p:spPr bwMode="auto">
          <a:xfrm>
            <a:off x="1449746" y="1412775"/>
            <a:ext cx="7200000" cy="4494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92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49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378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A-5(b)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三個聚類的中心的初始值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4" t="20905" r="39294" b="35991"/>
          <a:stretch/>
        </p:blipFill>
        <p:spPr bwMode="auto">
          <a:xfrm>
            <a:off x="2699792" y="1226369"/>
            <a:ext cx="4320000" cy="4547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481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50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4072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欄設各樣本對三個聚類的中心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公式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0" t="26940" r="26571" b="31034"/>
          <a:stretch/>
        </p:blipFill>
        <p:spPr bwMode="auto">
          <a:xfrm>
            <a:off x="1043608" y="1700807"/>
            <a:ext cx="7920000" cy="3939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3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51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0914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A-7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欄設各樣本對三個聚類的中心的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最小值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公式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6" t="26078" r="27177" b="30388"/>
          <a:stretch/>
        </p:blipFill>
        <p:spPr bwMode="auto">
          <a:xfrm>
            <a:off x="1044488" y="1412776"/>
            <a:ext cx="7920000" cy="4192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278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52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5980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A-8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G16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儲存格加總各樣本對三個聚類的中心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距離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最小值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3" t="31681" r="28267" b="26940"/>
          <a:stretch/>
        </p:blipFill>
        <p:spPr bwMode="auto">
          <a:xfrm>
            <a:off x="1043608" y="1517814"/>
            <a:ext cx="7920000" cy="414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536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53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555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A-9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的「規劃求解」設定參數</a:t>
            </a: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65" t="22306" r="8681" b="12594"/>
          <a:stretch/>
        </p:blipFill>
        <p:spPr bwMode="auto">
          <a:xfrm>
            <a:off x="2051720" y="1257277"/>
            <a:ext cx="5849008" cy="4762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24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54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五、結果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49407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A-10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均值聚類分析結果：聚類的中心分別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位於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個樣本聚類的中心處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55" t="34052" r="25360" b="22845"/>
          <a:stretch/>
        </p:blipFill>
        <p:spPr bwMode="auto">
          <a:xfrm>
            <a:off x="972480" y="1772374"/>
            <a:ext cx="7920000" cy="3816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935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55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5921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A-11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「書局行銷個案」均值聚類分析範例（左半部）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5" t="43966" r="17968" b="11301"/>
          <a:stretch/>
        </p:blipFill>
        <p:spPr bwMode="auto">
          <a:xfrm>
            <a:off x="971600" y="2204864"/>
            <a:ext cx="7920000" cy="3066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662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56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5921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A-12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「書局行銷個案」均值聚類分析範例（右半部）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5" t="31897" r="18574" b="22629"/>
          <a:stretch/>
        </p:blipFill>
        <p:spPr bwMode="auto">
          <a:xfrm>
            <a:off x="971600" y="2060848"/>
            <a:ext cx="7920000" cy="314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114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57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693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A-13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的「規劃求解」設定參數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" t="671" r="530"/>
          <a:stretch/>
        </p:blipFill>
        <p:spPr bwMode="auto">
          <a:xfrm>
            <a:off x="1430847" y="1230440"/>
            <a:ext cx="6873630" cy="4834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60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58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6909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A-14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三球聚類問題採用「修改系統」完成的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試算表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執行規劃求解前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556792"/>
            <a:ext cx="7920000" cy="4146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517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59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300028"/>
            <a:ext cx="4693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A-15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的「規劃求解」設定參數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" t="833" r="433"/>
          <a:stretch/>
        </p:blipFill>
        <p:spPr bwMode="auto">
          <a:xfrm>
            <a:off x="1497395" y="1254423"/>
            <a:ext cx="6891029" cy="4798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237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5BFDA-AE0C-43A3-B229-917851F13E3C}" type="slidenum">
              <a:rPr lang="en-US" altLang="zh-TW" smtClean="0"/>
              <a:pPr>
                <a:defRPr/>
              </a:pPr>
              <a:t>60</a:t>
            </a:fld>
            <a:endParaRPr lang="en-US" altLang="zh-TW"/>
          </a:p>
        </p:txBody>
      </p:sp>
      <p:sp>
        <p:nvSpPr>
          <p:cNvPr id="5" name="矩形 4"/>
          <p:cNvSpPr/>
          <p:nvPr/>
        </p:nvSpPr>
        <p:spPr>
          <a:xfrm>
            <a:off x="755576" y="76470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六、實作二：修改系統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6165304"/>
            <a:ext cx="56909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A-16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三球聚類問題採用「修改系統」完成的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試算表</a:t>
            </a:r>
            <a:endPara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執行規劃求解後）</a:t>
            </a:r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80" y="1564675"/>
            <a:ext cx="7920000" cy="4159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3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642350" y="6322786"/>
            <a:ext cx="501650" cy="4318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Ø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u"/>
              <a:defRPr kumimoji="1" sz="2800">
                <a:solidFill>
                  <a:schemeClr val="tx1"/>
                </a:solidFill>
                <a:latin typeface="Arial" charset="0"/>
                <a:ea typeface="標楷體" pitchFamily="65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51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sules">
  <a:themeElements>
    <a:clrScheme name="自訂 25">
      <a:dk1>
        <a:srgbClr val="000000"/>
      </a:dk1>
      <a:lt1>
        <a:srgbClr val="FFFFFF"/>
      </a:lt1>
      <a:dk2>
        <a:srgbClr val="000000"/>
      </a:dk2>
      <a:lt2>
        <a:srgbClr val="660066"/>
      </a:lt2>
      <a:accent1>
        <a:srgbClr val="FFCC99"/>
      </a:accent1>
      <a:accent2>
        <a:srgbClr val="99CC00"/>
      </a:accent2>
      <a:accent3>
        <a:srgbClr val="FFFFFF"/>
      </a:accent3>
      <a:accent4>
        <a:srgbClr val="000000"/>
      </a:accent4>
      <a:accent5>
        <a:srgbClr val="FFE2CA"/>
      </a:accent5>
      <a:accent6>
        <a:srgbClr val="8AB900"/>
      </a:accent6>
      <a:hlink>
        <a:srgbClr val="0070C0"/>
      </a:hlink>
      <a:folHlink>
        <a:srgbClr val="00B0F0"/>
      </a:folHlink>
    </a:clrScheme>
    <a:fontScheme name="Capsules">
      <a:majorFont>
        <a:latin typeface="Arial"/>
        <a:ea typeface="標楷體"/>
        <a:cs typeface="新細明體"/>
      </a:majorFont>
      <a:minorFont>
        <a:latin typeface="Arial"/>
        <a:ea typeface="標楷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9">
        <a:dk1>
          <a:srgbClr val="000000"/>
        </a:dk1>
        <a:lt1>
          <a:srgbClr val="FFFFFF"/>
        </a:lt1>
        <a:dk2>
          <a:srgbClr val="000000"/>
        </a:dk2>
        <a:lt2>
          <a:srgbClr val="660066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FF"/>
        </a:hlink>
        <a:folHlink>
          <a:srgbClr val="CC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5927</TotalTime>
  <Words>2204</Words>
  <Application>Microsoft Office PowerPoint</Application>
  <PresentationFormat>如螢幕大小 (4:3)</PresentationFormat>
  <Paragraphs>285</Paragraphs>
  <Slides>60</Slides>
  <Notes>13</Notes>
  <HiddenSlides>0</HiddenSlides>
  <MMClips>0</MMClips>
  <ScaleCrop>false</ScaleCrop>
  <HeadingPairs>
    <vt:vector size="8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60</vt:i4>
      </vt:variant>
    </vt:vector>
  </HeadingPairs>
  <TitlesOfParts>
    <vt:vector size="71" baseType="lpstr">
      <vt:lpstr>微軟正黑體</vt:lpstr>
      <vt:lpstr>新細明體</vt:lpstr>
      <vt:lpstr>新細明體</vt:lpstr>
      <vt:lpstr>標楷體</vt:lpstr>
      <vt:lpstr>Arial</vt:lpstr>
      <vt:lpstr>Calibri</vt:lpstr>
      <vt:lpstr>Cambria Math</vt:lpstr>
      <vt:lpstr>Times New Roman</vt:lpstr>
      <vt:lpstr>Wingdings</vt:lpstr>
      <vt:lpstr>Capsules</vt:lpstr>
      <vt:lpstr>Equation</vt:lpstr>
      <vt:lpstr>PowerPoint 簡報</vt:lpstr>
      <vt:lpstr>PowerPoint 簡報</vt:lpstr>
      <vt:lpstr>PowerPoint 簡報</vt:lpstr>
      <vt:lpstr>PowerPoint 簡報</vt:lpstr>
      <vt:lpstr>四、聚類分析的方法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產出(4個Outcome)</vt:lpstr>
      <vt:lpstr>K-means sub summary</vt:lpstr>
      <vt:lpstr>5-3【資料科學】  資料的「標準化」與「正規化」Why?</vt:lpstr>
      <vt:lpstr>標準化、正規化的目的</vt:lpstr>
      <vt:lpstr>變數採用資料「標準化」變換</vt:lpstr>
      <vt:lpstr>資料前處理、標準化、正規化</vt:lpstr>
      <vt:lpstr>相關連結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四個聚類-分析說明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WUNAN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wunan</dc:creator>
  <cp:lastModifiedBy>hp</cp:lastModifiedBy>
  <cp:revision>635</cp:revision>
  <dcterms:created xsi:type="dcterms:W3CDTF">2006-03-03T08:12:18Z</dcterms:created>
  <dcterms:modified xsi:type="dcterms:W3CDTF">2026-09-20T15:05:41Z</dcterms:modified>
</cp:coreProperties>
</file>