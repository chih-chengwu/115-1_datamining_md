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61" r:id="rId3"/>
    <p:sldId id="270" r:id="rId4"/>
    <p:sldId id="271" r:id="rId5"/>
    <p:sldId id="277" r:id="rId6"/>
    <p:sldId id="272" r:id="rId7"/>
    <p:sldId id="278" r:id="rId8"/>
    <p:sldId id="275" r:id="rId9"/>
    <p:sldId id="276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2025/12/24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及課堂規定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學年上學期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 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b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245806"/>
            <a:ext cx="10515600" cy="1138151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探勘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Data Mining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課程焦點一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(4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什麼是資料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探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勘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217762" y="1846008"/>
            <a:ext cx="10515600" cy="470257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概念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Concept/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輪廓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Outline/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目的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Goal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應用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(Application)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在那裡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程序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Procedure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定義問題</a:t>
            </a:r>
            <a:r>
              <a:rPr lang="zh-TW" altLang="en-US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瞭解老闆的目的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蒐集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SQL)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自己有嗎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?)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資料前處理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Preprocessing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資料分析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Analysis (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各種演算法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產出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Outcomes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6.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Presentation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7.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作成決策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(8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機器學習演算法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內容版面配置區 2"/>
          <p:cNvSpPr>
            <a:spLocks noGrp="1"/>
          </p:cNvSpPr>
          <p:nvPr>
            <p:ph idx="1"/>
          </p:nvPr>
        </p:nvSpPr>
        <p:spPr>
          <a:xfrm>
            <a:off x="1130298" y="1578154"/>
            <a:ext cx="10515600" cy="4959387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分群（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Clustering 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非監督式學習）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均值聚類分析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(K-means)</a:t>
            </a:r>
            <a:endParaRPr lang="zh-TW" altLang="en-US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分類（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Classification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監督式學習）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大多數</a:t>
            </a:r>
            <a:r>
              <a:rPr lang="zh-TW" altLang="en-US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監督式學習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的演算法屬於分類或迴歸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2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最近鄰居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K-Nearest-Neighbor, KNN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決策樹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Decision)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隨機森林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(Random Forest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單純貝氏演算法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(Naive Bayes Classifier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支援向量機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(support vector machine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邏輯迴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r>
              <a:rPr lang="zh-TW" altLang="en-US" sz="2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sz="2100" dirty="0">
                <a:latin typeface="標楷體" panose="03000509000000000000" pitchFamily="65" charset="-120"/>
                <a:ea typeface="標楷體" panose="03000509000000000000" pitchFamily="65" charset="-120"/>
              </a:rPr>
              <a:t>Logistic Regression</a:t>
            </a:r>
            <a:r>
              <a:rPr lang="zh-TW" altLang="en-US" sz="2100" dirty="0">
                <a:latin typeface="標楷體" panose="03000509000000000000" pitchFamily="65" charset="-120"/>
                <a:ea typeface="標楷體" panose="03000509000000000000" pitchFamily="65" charset="-120"/>
              </a:rPr>
              <a:t>）雖名為迴歸</a:t>
            </a:r>
            <a:r>
              <a:rPr lang="zh-TW" altLang="en-US" sz="21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endParaRPr lang="en-US" altLang="zh-TW" sz="21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3"/>
            <a:r>
              <a:rPr lang="zh-TW" altLang="en-US" sz="19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實際上</a:t>
            </a:r>
            <a:r>
              <a:rPr lang="zh-TW" altLang="en-US" sz="1900" dirty="0">
                <a:latin typeface="標楷體" panose="03000509000000000000" pitchFamily="65" charset="-120"/>
                <a:ea typeface="標楷體" panose="03000509000000000000" pitchFamily="65" charset="-120"/>
              </a:rPr>
              <a:t>是一種常用於二元或多元分類的演算法技術</a:t>
            </a:r>
            <a:endParaRPr lang="en-US" altLang="zh-TW" sz="19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預測連續數值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迴</a:t>
            </a:r>
            <a:r>
              <a:rPr lang="zh-TW" altLang="en-US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歸</a:t>
            </a:r>
            <a:r>
              <a:rPr lang="en-US" altLang="zh-TW" sz="25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(regression</a:t>
            </a:r>
            <a:r>
              <a:rPr lang="zh-TW" altLang="en-US" sz="2800" dirty="0"/>
              <a:t> 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監督式學習</a:t>
            </a:r>
            <a:r>
              <a:rPr lang="en-US" altLang="zh-TW" sz="25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2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傳統的迴歸分析適用在因變數是連續變數的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情形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lvl="2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通常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用於預測連續數值，例如房價、氣溫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關聯分析（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Association</a:t>
            </a:r>
            <a:r>
              <a:rPr lang="zh-TW" altLang="en-US" dirty="0"/>
              <a:t> 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非監督式學習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五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時間序列分析（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Time Series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Forecasting)</a:t>
            </a: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六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強化學習（</a:t>
            </a:r>
            <a:r>
              <a:rPr lang="en-US" altLang="zh-TW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Reinforcement Learning</a:t>
            </a:r>
            <a:r>
              <a:rPr lang="zh-TW" altLang="en-US" i="1" u="sng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i="1" u="sng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爆炸 1 2"/>
          <p:cNvSpPr/>
          <p:nvPr/>
        </p:nvSpPr>
        <p:spPr>
          <a:xfrm>
            <a:off x="6853349" y="1578154"/>
            <a:ext cx="4792549" cy="4727230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進行方式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該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Algorithm</a:t>
            </a:r>
          </a:p>
          <a:p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以</a:t>
            </a:r>
            <a:r>
              <a:rPr lang="en-US" altLang="zh-TW" sz="20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執行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使用工具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en-US" altLang="zh-TW" sz="2000" b="1" dirty="0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sz="2000" b="1" dirty="0" err="1" smtClean="0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Colab</a:t>
            </a:r>
            <a:r>
              <a:rPr lang="en-US" altLang="zh-TW" sz="2000" b="1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&amp; </a:t>
            </a:r>
            <a:r>
              <a:rPr lang="en-US" altLang="zh-TW" sz="2000" b="1" dirty="0" err="1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VSCode</a:t>
            </a:r>
            <a:endParaRPr lang="en-US" altLang="zh-TW" sz="2000" b="1" dirty="0" smtClean="0">
              <a:solidFill>
                <a:srgbClr val="FFC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有些以</a:t>
            </a:r>
            <a:r>
              <a:rPr lang="en-US" altLang="zh-TW" sz="20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來計算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41660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課程焦點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(6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):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</a:t>
            </a:r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14909" y="1949569"/>
            <a:ext cx="7962182" cy="3536831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err="1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Kaggle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一個數據建模和數據分析競賽平台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提供大量的數據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+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範例程式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學習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範例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程式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解讀分析圖表能力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現在就開始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熟悉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Google </a:t>
            </a:r>
            <a:r>
              <a:rPr lang="en-US" altLang="zh-TW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olaboratory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+ VS Code</a:t>
            </a:r>
          </a:p>
          <a:p>
            <a:pPr lvl="2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endParaRPr lang="en-US" altLang="zh-TW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多思考</a:t>
            </a:r>
            <a:r>
              <a:rPr lang="zh-TW" altLang="en-US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多蒐尋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善用各種工具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網站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eWant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 W3school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自己有興趣的主題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重要的主題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下課後用心研究瞭解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圓角矩形 3"/>
          <p:cNvSpPr/>
          <p:nvPr/>
        </p:nvSpPr>
        <p:spPr>
          <a:xfrm>
            <a:off x="2114910" y="5588264"/>
            <a:ext cx="7962181" cy="9230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資料探勘工具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b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SPSS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SAS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RapidMinar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Python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</a:t>
            </a:r>
            <a:r>
              <a:rPr lang="zh-TW" altLang="en-US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chemeClr val="bg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Excel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語言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9909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6508"/>
            <a:ext cx="10515600" cy="789420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課程訊息發布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90418" y="966644"/>
            <a:ext cx="10515600" cy="2857211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LINE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群組名為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資料探勘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課程問題找不到老師的可以先找小老師洽詢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使用課本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上課內容雲端連接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Google Classroom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5361" y="3357171"/>
            <a:ext cx="2498563" cy="338640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045" y="3353378"/>
            <a:ext cx="1993793" cy="3390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06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期末報告規定</a:t>
            </a:r>
            <a:endParaRPr lang="zh-TW" altLang="en-US" dirty="0"/>
          </a:p>
        </p:txBody>
      </p:sp>
      <p:sp>
        <p:nvSpPr>
          <p:cNvPr id="4" name="矩形 3"/>
          <p:cNvSpPr/>
          <p:nvPr/>
        </p:nvSpPr>
        <p:spPr>
          <a:xfrm>
            <a:off x="838201" y="1500996"/>
            <a:ext cx="10515600" cy="5201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報告的規定如下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5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4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人一組的請至少報告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個成果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圖表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預測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分析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/...)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程式執行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說明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- 6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給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老師及同學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提問 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預設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15</a:t>
            </a:r>
            <a:r>
              <a:rPr lang="zh-TW" altLang="en-US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2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每一組報告時間不得少於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8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每一組報告時間不得大於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20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每一位都必須講話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沒講話的老師所有的問題都會指定他回答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回答又不出來的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會考慮給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0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分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報告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</a:t>
            </a:r>
            <a:r>
              <a:rPr lang="en-US" altLang="zh-TW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-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務必讓台下聽眾聽得懂你說的圖表成果內容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說得清楚的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分數愈高</a:t>
            </a:r>
          </a:p>
          <a:p>
            <a:pPr algn="ctr"/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說明程式</a:t>
            </a:r>
            <a:r>
              <a:rPr lang="zh-TW" altLang="en-US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時 </a:t>
            </a:r>
            <a:r>
              <a:rPr lang="en-US" altLang="zh-TW" sz="2000" u="sng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-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先告訴大家這一區塊程式在作什麼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然後執行</a:t>
            </a:r>
            <a:r>
              <a:rPr lang="en-US" altLang="zh-TW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u="sng" dirty="0">
                <a:latin typeface="標楷體" panose="03000509000000000000" pitchFamily="65" charset="-120"/>
                <a:ea typeface="標楷體" panose="03000509000000000000" pitchFamily="65" charset="-120"/>
              </a:rPr>
              <a:t>然後再說明程式細節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程式說得愈仔細分數愈高</a:t>
            </a:r>
          </a:p>
          <a:p>
            <a:pPr algn="ctr"/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</a:p>
          <a:p>
            <a:pPr algn="ctr"/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報告前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請列一份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PPT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紙本給老師 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一頁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: 2</a:t>
            </a:r>
            <a:r>
              <a:rPr lang="zh-TW" altLang="en-US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張</a:t>
            </a:r>
            <a:r>
              <a:rPr lang="en-US" altLang="zh-TW" sz="20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algn="ctr"/>
            <a:r>
              <a:rPr lang="zh-TW" altLang="en-US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報告後</a:t>
            </a:r>
            <a:r>
              <a:rPr lang="en-US" altLang="zh-TW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, </a:t>
            </a:r>
            <a:r>
              <a:rPr lang="zh-TW" altLang="en-US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將你的</a:t>
            </a:r>
            <a:r>
              <a:rPr lang="en-US" altLang="zh-TW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PPT LINE</a:t>
            </a:r>
            <a:r>
              <a:rPr lang="zh-TW" altLang="en-US" sz="2000" strike="dblStrike" dirty="0">
                <a:latin typeface="標楷體" panose="03000509000000000000" pitchFamily="65" charset="-120"/>
                <a:ea typeface="標楷體" panose="03000509000000000000" pitchFamily="65" charset="-120"/>
              </a:rPr>
              <a:t>給老師</a:t>
            </a:r>
          </a:p>
        </p:txBody>
      </p:sp>
    </p:spTree>
    <p:extLst>
      <p:ext uri="{BB962C8B-B14F-4D97-AF65-F5344CB8AC3E}">
        <p14:creationId xmlns:p14="http://schemas.microsoft.com/office/powerpoint/2010/main" val="988917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838200" y="175434"/>
            <a:ext cx="10515600" cy="1092650"/>
          </a:xfrm>
          <a:solidFill>
            <a:srgbClr val="FFC000"/>
          </a:solidFill>
        </p:spPr>
        <p:txBody>
          <a:bodyPr/>
          <a:lstStyle/>
          <a:p>
            <a:pPr algn="ctr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評分標準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837396"/>
              </p:ext>
            </p:extLst>
          </p:nvPr>
        </p:nvGraphicFramePr>
        <p:xfrm>
          <a:off x="838200" y="1407919"/>
          <a:ext cx="10515600" cy="51698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437">
                  <a:extLst>
                    <a:ext uri="{9D8B030D-6E8A-4147-A177-3AD203B41FA5}">
                      <a16:colId xmlns:a16="http://schemas.microsoft.com/office/drawing/2014/main" val="2853746146"/>
                    </a:ext>
                  </a:extLst>
                </a:gridCol>
                <a:gridCol w="2645993">
                  <a:extLst>
                    <a:ext uri="{9D8B030D-6E8A-4147-A177-3AD203B41FA5}">
                      <a16:colId xmlns:a16="http://schemas.microsoft.com/office/drawing/2014/main" val="3945654286"/>
                    </a:ext>
                  </a:extLst>
                </a:gridCol>
                <a:gridCol w="3873270">
                  <a:extLst>
                    <a:ext uri="{9D8B030D-6E8A-4147-A177-3AD203B41FA5}">
                      <a16:colId xmlns:a16="http://schemas.microsoft.com/office/drawing/2014/main" val="175321926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4884116"/>
                    </a:ext>
                  </a:extLst>
                </a:gridCol>
              </a:tblGrid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大分類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項目內容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61206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PPT  (50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內容、舖陳、敘述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50341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圖表說明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2210398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口語表達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1475183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簡報效果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7324389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B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程式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(30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熟悉度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247994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15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012756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Q&amp;A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反應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91557"/>
                  </a:ext>
                </a:extLst>
              </a:tr>
              <a:tr h="574429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小組 </a:t>
                      </a: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(10)</a:t>
                      </a:r>
                      <a:endParaRPr lang="zh-TW" altLang="en-US" sz="24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240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分工、合作、互動</a:t>
                      </a:r>
                      <a:endParaRPr lang="zh-TW" altLang="en-US" sz="24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r>
                        <a:rPr lang="zh-TW" altLang="en-US" sz="24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962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57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1871</TotalTime>
  <Words>797</Words>
  <Application>Microsoft Office PowerPoint</Application>
  <PresentationFormat>寬螢幕</PresentationFormat>
  <Paragraphs>120</Paragraphs>
  <Slides>9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評量標準、課程方向 及課堂規定</vt:lpstr>
      <vt:lpstr>資料探勘 Data Mining 1.課堂規定</vt:lpstr>
      <vt:lpstr>PowerPoint 簡報</vt:lpstr>
      <vt:lpstr>課程焦點一(4週):什麼是資料探勘 </vt:lpstr>
      <vt:lpstr>課程焦點二(8週):機器學習演算法</vt:lpstr>
      <vt:lpstr>課程焦點三(6週):善用Kaggle網站</vt:lpstr>
      <vt:lpstr>課程訊息發布</vt:lpstr>
      <vt:lpstr>期末報告規定</vt:lpstr>
      <vt:lpstr>評分標準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user</cp:lastModifiedBy>
  <cp:revision>98</cp:revision>
  <dcterms:created xsi:type="dcterms:W3CDTF">2023-02-10T08:39:17Z</dcterms:created>
  <dcterms:modified xsi:type="dcterms:W3CDTF">2025-12-24T03:20:49Z</dcterms:modified>
</cp:coreProperties>
</file>