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61" r:id="rId3"/>
    <p:sldId id="270" r:id="rId4"/>
    <p:sldId id="279" r:id="rId5"/>
    <p:sldId id="271" r:id="rId6"/>
    <p:sldId id="277" r:id="rId7"/>
    <p:sldId id="272" r:id="rId8"/>
    <p:sldId id="278" r:id="rId9"/>
    <p:sldId id="275" r:id="rId10"/>
    <p:sldId id="276" r:id="rId11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50021"/>
    <a:srgbClr val="CC3300"/>
    <a:srgbClr val="C00000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86" y="3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514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A8676C-D457-4A0B-9C91-83939419494E}" type="datetimeFigureOut">
              <a:rPr lang="zh-TW" altLang="en-US" smtClean="0"/>
              <a:t>2026/7/11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045429-42BB-4635-80E2-ABE2C984EC7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671963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042F59D-1976-4030-A7B5-0D54ABB5D05B}" type="slidenum">
              <a:rPr lang="en-US" altLang="zh-TW"/>
              <a:pPr/>
              <a:t>3</a:t>
            </a:fld>
            <a:endParaRPr lang="en-US" altLang="zh-TW"/>
          </a:p>
        </p:txBody>
      </p:sp>
      <p:sp>
        <p:nvSpPr>
          <p:cNvPr id="1586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861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3607250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0F9A4-4469-4216-8732-74830AAB3356}" type="datetimeFigureOut">
              <a:rPr lang="zh-TW" altLang="en-US" smtClean="0"/>
              <a:t>2026/7/11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8B51A-03C2-4546-9AC5-486435BCA0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145339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0F9A4-4469-4216-8732-74830AAB3356}" type="datetimeFigureOut">
              <a:rPr lang="zh-TW" altLang="en-US" smtClean="0"/>
              <a:t>2026/7/11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8B51A-03C2-4546-9AC5-486435BCA0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626825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0F9A4-4469-4216-8732-74830AAB3356}" type="datetimeFigureOut">
              <a:rPr lang="zh-TW" altLang="en-US" smtClean="0"/>
              <a:t>2026/7/11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8B51A-03C2-4546-9AC5-486435BCA0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60105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0F9A4-4469-4216-8732-74830AAB3356}" type="datetimeFigureOut">
              <a:rPr lang="zh-TW" altLang="en-US" smtClean="0"/>
              <a:t>2026/7/11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8B51A-03C2-4546-9AC5-486435BCA0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359375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0F9A4-4469-4216-8732-74830AAB3356}" type="datetimeFigureOut">
              <a:rPr lang="zh-TW" altLang="en-US" smtClean="0"/>
              <a:t>2026/7/11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8B51A-03C2-4546-9AC5-486435BCA0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813250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0F9A4-4469-4216-8732-74830AAB3356}" type="datetimeFigureOut">
              <a:rPr lang="zh-TW" altLang="en-US" smtClean="0"/>
              <a:t>2026/7/11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8B51A-03C2-4546-9AC5-486435BCA0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010393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0F9A4-4469-4216-8732-74830AAB3356}" type="datetimeFigureOut">
              <a:rPr lang="zh-TW" altLang="en-US" smtClean="0"/>
              <a:t>2026/7/11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8B51A-03C2-4546-9AC5-486435BCA0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998852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0F9A4-4469-4216-8732-74830AAB3356}" type="datetimeFigureOut">
              <a:rPr lang="zh-TW" altLang="en-US" smtClean="0"/>
              <a:t>2026/7/11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8B51A-03C2-4546-9AC5-486435BCA0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33006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0F9A4-4469-4216-8732-74830AAB3356}" type="datetimeFigureOut">
              <a:rPr lang="zh-TW" altLang="en-US" smtClean="0"/>
              <a:t>2026/7/11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8B51A-03C2-4546-9AC5-486435BCA0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595141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0F9A4-4469-4216-8732-74830AAB3356}" type="datetimeFigureOut">
              <a:rPr lang="zh-TW" altLang="en-US" smtClean="0"/>
              <a:t>2026/7/11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8B51A-03C2-4546-9AC5-486435BCA0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602771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0F9A4-4469-4216-8732-74830AAB3356}" type="datetimeFigureOut">
              <a:rPr lang="zh-TW" altLang="en-US" smtClean="0"/>
              <a:t>2026/7/11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8B51A-03C2-4546-9AC5-486435BCA0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100718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30F9A4-4469-4216-8732-74830AAB3356}" type="datetimeFigureOut">
              <a:rPr lang="zh-TW" altLang="en-US" smtClean="0"/>
              <a:t>2026/7/11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A8B51A-03C2-4546-9AC5-486435BCA0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31601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TW" altLang="en-US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課堂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規定</a:t>
            </a:r>
            <a:r>
              <a:rPr lang="zh-TW" altLang="en-US" dirty="0" smtClean="0">
                <a:solidFill>
                  <a:srgbClr val="0000FF"/>
                </a:solidFill>
                <a:latin typeface="PMingLiU" panose="02020500000000000000" pitchFamily="18" charset="-120"/>
                <a:ea typeface="PMingLiU" panose="02020500000000000000" pitchFamily="18" charset="-120"/>
              </a:rPr>
              <a:t>、</a:t>
            </a:r>
            <a:r>
              <a:rPr lang="zh-TW" altLang="en-US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成績評量標準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/>
            </a:r>
            <a:b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及金</a:t>
            </a:r>
            <a:endParaRPr lang="zh-TW" altLang="en-US" dirty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TW" sz="2800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115</a:t>
            </a:r>
            <a:r>
              <a:rPr lang="zh-TW" altLang="en-US" sz="2800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學年上學期</a:t>
            </a:r>
            <a:r>
              <a:rPr lang="en-US" altLang="zh-TW" sz="2800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-</a:t>
            </a:r>
            <a:r>
              <a:rPr lang="zh-TW" altLang="en-US" sz="2800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資料探勘 </a:t>
            </a:r>
            <a:r>
              <a:rPr lang="en-US" altLang="zh-TW" sz="2800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Data Mining</a:t>
            </a:r>
          </a:p>
          <a:p>
            <a:r>
              <a:rPr lang="zh-TW" altLang="en-US" sz="2800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任課老師</a:t>
            </a:r>
            <a:r>
              <a:rPr lang="en-US" altLang="zh-TW" sz="2800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  <a:r>
              <a:rPr lang="zh-TW" altLang="en-US" sz="2800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吳志成</a:t>
            </a:r>
            <a:endParaRPr lang="zh-TW" altLang="en-US" sz="2800" dirty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86578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200368"/>
            <a:ext cx="10515600" cy="1183589"/>
          </a:xfrm>
        </p:spPr>
        <p:txBody>
          <a:bodyPr>
            <a:normAutofit fontScale="90000"/>
          </a:bodyPr>
          <a:lstStyle/>
          <a:p>
            <a:pPr algn="ctr"/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資料</a:t>
            </a:r>
            <a:r>
              <a:rPr lang="zh-TW" altLang="en-US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探勘 </a:t>
            </a:r>
            <a:r>
              <a:rPr lang="en-US" altLang="zh-TW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Data Mining</a:t>
            </a:r>
            <a:br>
              <a:rPr lang="en-US" altLang="zh-TW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1.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課堂規定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119922" y="2021999"/>
            <a:ext cx="10157678" cy="4498874"/>
          </a:xfrm>
        </p:spPr>
        <p:txBody>
          <a:bodyPr>
            <a:noAutofit/>
          </a:bodyPr>
          <a:lstStyle/>
          <a:p>
            <a:r>
              <a:rPr lang="zh-TW" altLang="en-US" sz="3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上課</a:t>
            </a:r>
            <a:r>
              <a:rPr lang="en-US" altLang="zh-TW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5</a:t>
            </a:r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分鐘</a:t>
            </a:r>
            <a:r>
              <a:rPr lang="zh-TW" altLang="en-US" sz="3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後進</a:t>
            </a:r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教室算</a:t>
            </a:r>
            <a:r>
              <a:rPr lang="zh-TW" altLang="en-US" sz="3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遲到</a:t>
            </a:r>
            <a:endParaRPr lang="en-US" altLang="zh-TW" sz="3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200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上課禁用手機，請專心上課</a:t>
            </a:r>
            <a:endParaRPr lang="en-US" altLang="zh-TW" sz="3200" dirty="0" smtClean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想睡覺的，建議洗臉</a:t>
            </a:r>
            <a:r>
              <a:rPr lang="zh-TW" altLang="en-US" sz="3200" dirty="0" smtClean="0">
                <a:latin typeface="PMingLiU" panose="02020500000000000000" pitchFamily="18" charset="-120"/>
                <a:ea typeface="PMingLiU" panose="02020500000000000000" pitchFamily="18" charset="-120"/>
              </a:rPr>
              <a:t>、</a:t>
            </a:r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站立上課</a:t>
            </a:r>
            <a:r>
              <a:rPr lang="zh-TW" altLang="en-US" sz="3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或</a:t>
            </a:r>
            <a:r>
              <a:rPr lang="en-US" altLang="zh-TW" sz="3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5</a:t>
            </a:r>
            <a:r>
              <a:rPr lang="zh-TW" altLang="en-US" sz="3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分鐘</a:t>
            </a:r>
            <a:r>
              <a:rPr lang="en-US" altLang="zh-TW" sz="3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Free</a:t>
            </a:r>
          </a:p>
          <a:p>
            <a:pPr lvl="1"/>
            <a:r>
              <a:rPr lang="zh-TW" altLang="en-US" sz="2800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實在撐不住的，可以舉手要求</a:t>
            </a:r>
            <a:r>
              <a:rPr lang="en-US" altLang="zh-TW" sz="2800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2800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睡</a:t>
            </a:r>
            <a:r>
              <a:rPr lang="en-US" altLang="zh-TW" sz="2800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)15</a:t>
            </a:r>
            <a:r>
              <a:rPr lang="zh-TW" altLang="en-US" sz="2800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分鐘</a:t>
            </a:r>
            <a:endParaRPr lang="en-US" altLang="zh-TW" sz="2800" dirty="0" smtClean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上課吵鬧，影響到老師及同學</a:t>
            </a:r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的</a:t>
            </a:r>
            <a:r>
              <a:rPr lang="zh-TW" altLang="en-US" sz="3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，予以糾正</a:t>
            </a:r>
            <a:endParaRPr lang="en-US" altLang="zh-TW" sz="32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TW" sz="32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1/3 (</a:t>
            </a:r>
            <a:r>
              <a:rPr lang="zh-TW" altLang="en-US" sz="32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含</a:t>
            </a:r>
            <a:r>
              <a:rPr lang="en-US" altLang="zh-TW" sz="32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r>
              <a:rPr lang="zh-TW" altLang="en-US" sz="32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以上未出席課程無法給予學分</a:t>
            </a:r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  <a:r>
              <a:rPr lang="en-US" altLang="zh-TW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2</a:t>
            </a:r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次遲到算</a:t>
            </a:r>
            <a:r>
              <a:rPr lang="en-US" altLang="zh-TW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1</a:t>
            </a:r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次未到課</a:t>
            </a:r>
            <a:endParaRPr lang="en-US" altLang="zh-TW" sz="3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200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為加強同學上課專注度，請同學回答問題</a:t>
            </a:r>
            <a:r>
              <a:rPr lang="en-US" altLang="zh-TW" sz="3200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3200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課堂表現</a:t>
            </a:r>
            <a:r>
              <a:rPr lang="en-US" altLang="zh-TW" sz="3200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endParaRPr lang="en-US" altLang="zh-TW" sz="3200" dirty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7340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1"/>
          <p:cNvSpPr txBox="1">
            <a:spLocks/>
          </p:cNvSpPr>
          <p:nvPr/>
        </p:nvSpPr>
        <p:spPr>
          <a:xfrm>
            <a:off x="838200" y="245806"/>
            <a:ext cx="10515600" cy="1138151"/>
          </a:xfrm>
          <a:prstGeom prst="rect">
            <a:avLst/>
          </a:prstGeom>
        </p:spPr>
        <p:txBody>
          <a:bodyPr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資料</a:t>
            </a:r>
            <a:r>
              <a:rPr lang="zh-TW" altLang="en-US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探勘 </a:t>
            </a:r>
            <a:r>
              <a:rPr lang="en-US" altLang="zh-TW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Data Mining</a:t>
            </a:r>
            <a:endParaRPr lang="en-US" altLang="zh-TW" dirty="0" smtClean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2.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成績評量標準</a:t>
            </a:r>
            <a:endParaRPr lang="zh-TW" altLang="en-US" dirty="0"/>
          </a:p>
        </p:txBody>
      </p:sp>
      <p:grpSp>
        <p:nvGrpSpPr>
          <p:cNvPr id="10" name="群組 9"/>
          <p:cNvGrpSpPr/>
          <p:nvPr/>
        </p:nvGrpSpPr>
        <p:grpSpPr>
          <a:xfrm>
            <a:off x="3590745" y="1673523"/>
            <a:ext cx="5010510" cy="4830793"/>
            <a:chOff x="1708030" y="189781"/>
            <a:chExt cx="6271404" cy="6305910"/>
          </a:xfrm>
        </p:grpSpPr>
        <p:sp>
          <p:nvSpPr>
            <p:cNvPr id="11" name="流程圖: 或 10"/>
            <p:cNvSpPr/>
            <p:nvPr/>
          </p:nvSpPr>
          <p:spPr>
            <a:xfrm>
              <a:off x="1708030" y="189781"/>
              <a:ext cx="6271404" cy="6305910"/>
            </a:xfrm>
            <a:prstGeom prst="flowChartOr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12" name="流程圖: 結束點 11"/>
            <p:cNvSpPr/>
            <p:nvPr/>
          </p:nvSpPr>
          <p:spPr>
            <a:xfrm>
              <a:off x="2112751" y="1815861"/>
              <a:ext cx="2539041" cy="966158"/>
            </a:xfrm>
            <a:prstGeom prst="flowChartTerminator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2400" dirty="0">
                  <a:solidFill>
                    <a:srgbClr val="0000FF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課堂</a:t>
              </a:r>
              <a:r>
                <a:rPr lang="zh-TW" altLang="en-US" sz="2400" dirty="0" smtClean="0">
                  <a:solidFill>
                    <a:srgbClr val="0000FF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表現</a:t>
              </a:r>
              <a:endParaRPr lang="en-US" altLang="zh-TW" sz="2400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  <a:p>
              <a:pPr algn="ctr"/>
              <a:r>
                <a:rPr lang="en-US" altLang="zh-TW" sz="2400" dirty="0" smtClean="0">
                  <a:solidFill>
                    <a:srgbClr val="0000FF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+</a:t>
              </a:r>
              <a:r>
                <a:rPr lang="zh-TW" altLang="en-US" sz="2400" dirty="0" smtClean="0">
                  <a:solidFill>
                    <a:srgbClr val="0000FF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出席</a:t>
              </a:r>
              <a:endParaRPr lang="en-US" altLang="zh-TW" sz="2400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  <a:p>
              <a:pPr algn="ctr"/>
              <a:r>
                <a:rPr lang="en-US" altLang="zh-TW" sz="2400" dirty="0">
                  <a:solidFill>
                    <a:srgbClr val="0000FF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25</a:t>
              </a:r>
              <a:r>
                <a:rPr lang="en-US" altLang="zh-TW" sz="2400" dirty="0" smtClean="0">
                  <a:solidFill>
                    <a:srgbClr val="0000FF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%</a:t>
              </a:r>
              <a:endParaRPr lang="zh-TW" altLang="en-US" sz="2400" dirty="0">
                <a:solidFill>
                  <a:srgbClr val="0000FF"/>
                </a:solidFill>
              </a:endParaRPr>
            </a:p>
          </p:txBody>
        </p:sp>
        <p:sp>
          <p:nvSpPr>
            <p:cNvPr id="13" name="流程圖: 結束點 12"/>
            <p:cNvSpPr/>
            <p:nvPr/>
          </p:nvSpPr>
          <p:spPr>
            <a:xfrm>
              <a:off x="5056515" y="1815861"/>
              <a:ext cx="2539041" cy="966158"/>
            </a:xfrm>
            <a:prstGeom prst="flowChartTerminator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2400" dirty="0" smtClean="0">
                  <a:solidFill>
                    <a:srgbClr val="0000FF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作業</a:t>
              </a:r>
              <a:r>
                <a:rPr lang="en-US" altLang="zh-TW" sz="2400" dirty="0">
                  <a:solidFill>
                    <a:srgbClr val="0000FF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+</a:t>
              </a:r>
              <a:r>
                <a:rPr lang="zh-TW" altLang="en-US" sz="2400" dirty="0" smtClean="0">
                  <a:solidFill>
                    <a:srgbClr val="0000FF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小考</a:t>
              </a:r>
              <a:endParaRPr lang="en-US" altLang="zh-TW" sz="2400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  <a:p>
              <a:pPr algn="ctr"/>
              <a:r>
                <a:rPr lang="en-US" altLang="zh-TW" sz="2400" dirty="0">
                  <a:solidFill>
                    <a:srgbClr val="0000FF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25</a:t>
              </a:r>
              <a:r>
                <a:rPr lang="en-US" altLang="zh-TW" sz="2400" dirty="0" smtClean="0">
                  <a:solidFill>
                    <a:srgbClr val="0000FF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%</a:t>
              </a:r>
              <a:endParaRPr lang="zh-TW" altLang="en-US" sz="2400" dirty="0">
                <a:solidFill>
                  <a:srgbClr val="0000FF"/>
                </a:solidFill>
              </a:endParaRPr>
            </a:p>
          </p:txBody>
        </p:sp>
        <p:sp>
          <p:nvSpPr>
            <p:cNvPr id="14" name="流程圖: 結束點 13"/>
            <p:cNvSpPr/>
            <p:nvPr/>
          </p:nvSpPr>
          <p:spPr>
            <a:xfrm>
              <a:off x="5056515" y="4075981"/>
              <a:ext cx="2539041" cy="966158"/>
            </a:xfrm>
            <a:prstGeom prst="flowChartTerminator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2400" dirty="0" smtClean="0">
                  <a:solidFill>
                    <a:srgbClr val="FF0000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期末考</a:t>
              </a:r>
              <a:endParaRPr lang="en-US" altLang="zh-TW" sz="2400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  <a:p>
              <a:pPr algn="ctr"/>
              <a:r>
                <a:rPr lang="en-US" altLang="zh-TW" sz="2400" dirty="0">
                  <a:solidFill>
                    <a:srgbClr val="FF0000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25</a:t>
              </a:r>
              <a:r>
                <a:rPr lang="en-US" altLang="zh-TW" sz="2400" dirty="0" smtClean="0">
                  <a:solidFill>
                    <a:srgbClr val="FF0000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%</a:t>
              </a:r>
              <a:endParaRPr lang="zh-TW" altLang="en-US" sz="2400" dirty="0">
                <a:solidFill>
                  <a:srgbClr val="FF0000"/>
                </a:solidFill>
              </a:endParaRPr>
            </a:p>
          </p:txBody>
        </p:sp>
        <p:sp>
          <p:nvSpPr>
            <p:cNvPr id="15" name="流程圖: 結束點 14"/>
            <p:cNvSpPr/>
            <p:nvPr/>
          </p:nvSpPr>
          <p:spPr>
            <a:xfrm>
              <a:off x="2112752" y="4075981"/>
              <a:ext cx="2539041" cy="966158"/>
            </a:xfrm>
            <a:prstGeom prst="flowChartTerminator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2400" dirty="0">
                  <a:solidFill>
                    <a:srgbClr val="FF0000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期中考</a:t>
              </a:r>
              <a:endParaRPr lang="zh-TW" altLang="en-US" sz="2400" dirty="0">
                <a:solidFill>
                  <a:srgbClr val="FF0000"/>
                </a:solidFill>
              </a:endParaRPr>
            </a:p>
            <a:p>
              <a:pPr algn="ctr"/>
              <a:r>
                <a:rPr lang="en-US" altLang="zh-TW" sz="2400" dirty="0" smtClean="0">
                  <a:solidFill>
                    <a:srgbClr val="FF0000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25%</a:t>
              </a:r>
              <a:endParaRPr lang="zh-TW" altLang="en-US" sz="2400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024722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solidFill>
            <a:srgbClr val="A50021"/>
          </a:solidFill>
        </p:spPr>
        <p:txBody>
          <a:bodyPr anchor="ctr"/>
          <a:lstStyle/>
          <a:p>
            <a:pPr algn="ctr"/>
            <a:r>
              <a:rPr lang="en-US" altLang="zh-TW" dirty="0" smtClean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3.</a:t>
            </a:r>
            <a:r>
              <a:rPr lang="zh-TW" altLang="en-US" dirty="0" smtClean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課程</a:t>
            </a:r>
            <a:r>
              <a:rPr lang="zh-TW" altLang="en-US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設計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075526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課程焦點一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(4</a:t>
            </a:r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週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):</a:t>
            </a:r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什麼是資料</a:t>
            </a:r>
            <a:r>
              <a:rPr lang="zh-TW" altLang="en-US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探</a:t>
            </a:r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勘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/>
            </a:r>
            <a:b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</a:br>
            <a:endParaRPr lang="zh-TW" altLang="en-US" dirty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217762" y="1846008"/>
            <a:ext cx="10515600" cy="4702574"/>
          </a:xfrm>
        </p:spPr>
        <p:txBody>
          <a:bodyPr>
            <a:normAutofit/>
          </a:bodyPr>
          <a:lstStyle/>
          <a:p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一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.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概念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Concept/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輪廓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Outline/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目的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Goal</a:t>
            </a:r>
          </a:p>
          <a:p>
            <a:pPr lvl="1"/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應用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(Application)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在那裡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二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.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程序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Procedure</a:t>
            </a:r>
          </a:p>
          <a:p>
            <a:pPr lvl="1"/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1.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定義問題</a:t>
            </a:r>
            <a:r>
              <a:rPr lang="zh-TW" altLang="en-US" dirty="0" smtClean="0">
                <a:latin typeface="PMingLiU" panose="02020500000000000000" pitchFamily="18" charset="-120"/>
                <a:ea typeface="PMingLiU" panose="02020500000000000000" pitchFamily="18" charset="-120"/>
              </a:rPr>
              <a:t>、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瞭解老闆的目的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2.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蒐集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下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SQL)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資料 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自己有嗎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?)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3.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資料前處理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Preprocessing</a:t>
            </a:r>
          </a:p>
          <a:p>
            <a:pPr lvl="1"/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4.</a:t>
            </a:r>
            <a:r>
              <a:rPr lang="zh-TW" altLang="en-US" dirty="0" smtClean="0">
                <a:solidFill>
                  <a:srgbClr val="FFC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資料分析</a:t>
            </a:r>
            <a:r>
              <a:rPr lang="en-US" altLang="zh-TW" dirty="0" smtClean="0">
                <a:solidFill>
                  <a:srgbClr val="FFC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Analysis (</a:t>
            </a:r>
            <a:r>
              <a:rPr lang="zh-TW" altLang="en-US" dirty="0" smtClean="0">
                <a:solidFill>
                  <a:srgbClr val="FFC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各種演算法</a:t>
            </a:r>
            <a:r>
              <a:rPr lang="en-US" altLang="zh-TW" dirty="0" smtClean="0">
                <a:solidFill>
                  <a:srgbClr val="FFC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</a:p>
          <a:p>
            <a:pPr lvl="1"/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5.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產出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Outcomes</a:t>
            </a:r>
          </a:p>
          <a:p>
            <a:pPr lvl="1"/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6.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報告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Presentation</a:t>
            </a:r>
          </a:p>
          <a:p>
            <a:pPr lvl="1"/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7.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作成決策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757415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zh-TW" altLang="en-US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課程焦點</a:t>
            </a:r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二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(8</a:t>
            </a:r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週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):</a:t>
            </a:r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機器學習演算法</a:t>
            </a:r>
            <a:endParaRPr lang="zh-TW" altLang="en-US" dirty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6" name="內容版面配置區 2"/>
          <p:cNvSpPr>
            <a:spLocks noGrp="1"/>
          </p:cNvSpPr>
          <p:nvPr>
            <p:ph idx="1"/>
          </p:nvPr>
        </p:nvSpPr>
        <p:spPr>
          <a:xfrm>
            <a:off x="1130298" y="1578154"/>
            <a:ext cx="10515600" cy="4959387"/>
          </a:xfrm>
        </p:spPr>
        <p:txBody>
          <a:bodyPr>
            <a:normAutofit fontScale="70000" lnSpcReduction="20000"/>
          </a:bodyPr>
          <a:lstStyle/>
          <a:p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一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.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分群（</a:t>
            </a:r>
            <a:r>
              <a:rPr lang="en-US" altLang="zh-TW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Clustering , </a:t>
            </a:r>
            <a:r>
              <a:rPr lang="zh-TW" altLang="en-US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非監督式學習）</a:t>
            </a:r>
            <a:endParaRPr lang="en-US" altLang="zh-TW" dirty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均值聚類分析 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(K-means)</a:t>
            </a:r>
            <a:endParaRPr lang="zh-TW" altLang="en-US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二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.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分類（</a:t>
            </a:r>
            <a:r>
              <a:rPr lang="en-US" altLang="zh-TW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Classification</a:t>
            </a:r>
            <a:r>
              <a:rPr lang="zh-TW" altLang="en-US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, </a:t>
            </a:r>
            <a:r>
              <a:rPr lang="zh-TW" altLang="en-US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監督式學習）</a:t>
            </a:r>
            <a:endParaRPr lang="en-US" altLang="zh-TW" dirty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大多數</a:t>
            </a:r>
            <a:r>
              <a:rPr lang="zh-TW" altLang="en-US" u="sng" dirty="0">
                <a:latin typeface="標楷體" panose="03000509000000000000" pitchFamily="65" charset="-120"/>
                <a:ea typeface="標楷體" panose="03000509000000000000" pitchFamily="65" charset="-120"/>
              </a:rPr>
              <a:t>監督式學習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的演算法屬於分類或迴歸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2"/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最近鄰居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K-Nearest-Neighbor, KNN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</a:p>
          <a:p>
            <a:pPr lvl="2"/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決策樹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Decision)</a:t>
            </a:r>
          </a:p>
          <a:p>
            <a:pPr lvl="2"/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隨機森林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(Random Forest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</a:p>
          <a:p>
            <a:pPr lvl="2"/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單純貝氏演算法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(Naive Bayes Classifier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</a:p>
          <a:p>
            <a:pPr lvl="2"/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支援向量機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(support vector machine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</a:p>
          <a:p>
            <a:pPr lvl="2"/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邏輯迴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歸</a:t>
            </a:r>
            <a:r>
              <a:rPr lang="zh-TW" altLang="en-US" sz="21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（</a:t>
            </a:r>
            <a:r>
              <a:rPr lang="en-US" altLang="zh-TW" sz="2100" dirty="0">
                <a:latin typeface="標楷體" panose="03000509000000000000" pitchFamily="65" charset="-120"/>
                <a:ea typeface="標楷體" panose="03000509000000000000" pitchFamily="65" charset="-120"/>
              </a:rPr>
              <a:t>Logistic Regression</a:t>
            </a:r>
            <a:r>
              <a:rPr lang="zh-TW" altLang="en-US" sz="2100" dirty="0">
                <a:latin typeface="標楷體" panose="03000509000000000000" pitchFamily="65" charset="-120"/>
                <a:ea typeface="標楷體" panose="03000509000000000000" pitchFamily="65" charset="-120"/>
              </a:rPr>
              <a:t>）雖名為迴歸</a:t>
            </a:r>
            <a:r>
              <a:rPr lang="zh-TW" altLang="en-US" sz="21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  <a:endParaRPr lang="en-US" altLang="zh-TW" sz="21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3"/>
            <a:r>
              <a:rPr lang="zh-TW" altLang="en-US" sz="19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實際上</a:t>
            </a:r>
            <a:r>
              <a:rPr lang="zh-TW" altLang="en-US" sz="1900" dirty="0">
                <a:latin typeface="標楷體" panose="03000509000000000000" pitchFamily="65" charset="-120"/>
                <a:ea typeface="標楷體" panose="03000509000000000000" pitchFamily="65" charset="-120"/>
              </a:rPr>
              <a:t>是一種常用於二元或多元分類的演算法技術</a:t>
            </a:r>
            <a:endParaRPr lang="en-US" altLang="zh-TW" sz="19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三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.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預測連續數值</a:t>
            </a:r>
            <a:endParaRPr lang="en-US" altLang="zh-TW" dirty="0" smtClean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迴</a:t>
            </a:r>
            <a:r>
              <a:rPr lang="zh-TW" altLang="en-US" sz="25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歸</a:t>
            </a:r>
            <a:r>
              <a:rPr lang="en-US" altLang="zh-TW" sz="25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(regression</a:t>
            </a:r>
            <a:r>
              <a:rPr lang="zh-TW" altLang="en-US" sz="2800" dirty="0"/>
              <a:t> </a:t>
            </a:r>
            <a:r>
              <a:rPr lang="en-US" altLang="zh-TW" sz="2500" dirty="0">
                <a:latin typeface="標楷體" panose="03000509000000000000" pitchFamily="65" charset="-120"/>
                <a:ea typeface="標楷體" panose="03000509000000000000" pitchFamily="65" charset="-120"/>
              </a:rPr>
              <a:t>, </a:t>
            </a:r>
            <a:r>
              <a:rPr lang="zh-TW" altLang="en-US" sz="2500" dirty="0">
                <a:latin typeface="標楷體" panose="03000509000000000000" pitchFamily="65" charset="-120"/>
                <a:ea typeface="標楷體" panose="03000509000000000000" pitchFamily="65" charset="-120"/>
              </a:rPr>
              <a:t>監督式學習</a:t>
            </a:r>
            <a:r>
              <a:rPr lang="en-US" altLang="zh-TW" sz="2500" dirty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</a:p>
          <a:p>
            <a:pPr lvl="2"/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傳統的迴歸分析適用在因變數是連續變數的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情形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</a:p>
          <a:p>
            <a:pPr lvl="2"/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通常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用於預測連續數值，例如房價、氣溫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四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.</a:t>
            </a:r>
            <a:r>
              <a:rPr lang="zh-TW" altLang="en-US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關聯分析（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Association</a:t>
            </a:r>
            <a:r>
              <a:rPr lang="zh-TW" altLang="en-US" dirty="0"/>
              <a:t> </a:t>
            </a:r>
            <a:r>
              <a:rPr lang="en-US" altLang="zh-TW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, </a:t>
            </a:r>
            <a:r>
              <a:rPr lang="zh-TW" altLang="en-US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非監督式學習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</a:p>
          <a:p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五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.</a:t>
            </a:r>
            <a:r>
              <a:rPr lang="zh-TW" altLang="en-US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時間序列分析（</a:t>
            </a:r>
            <a:r>
              <a:rPr lang="en-US" altLang="zh-TW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Time Series 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Forecasting)</a:t>
            </a:r>
          </a:p>
          <a:p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六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.</a:t>
            </a:r>
            <a:r>
              <a:rPr lang="zh-TW" altLang="en-US" i="1" u="sng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強化學習（</a:t>
            </a:r>
            <a:r>
              <a:rPr lang="en-US" altLang="zh-TW" i="1" u="sng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Reinforcement Learning</a:t>
            </a:r>
            <a:r>
              <a:rPr lang="zh-TW" altLang="en-US" i="1" u="sng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）</a:t>
            </a:r>
            <a:endParaRPr lang="en-US" altLang="zh-TW" i="1" u="sng" dirty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爆炸 1 2"/>
          <p:cNvSpPr/>
          <p:nvPr/>
        </p:nvSpPr>
        <p:spPr>
          <a:xfrm>
            <a:off x="6853349" y="1578154"/>
            <a:ext cx="4792549" cy="4727230"/>
          </a:xfrm>
          <a:prstGeom prst="irregularSeal1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2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進行方式</a:t>
            </a:r>
            <a:r>
              <a:rPr lang="en-US" altLang="zh-TW" sz="2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  <a:br>
              <a:rPr lang="en-US" altLang="zh-TW" sz="2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en-US" altLang="zh-TW" sz="2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1.</a:t>
            </a:r>
            <a:r>
              <a:rPr lang="zh-TW" altLang="en-US" sz="2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說明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該</a:t>
            </a:r>
            <a:r>
              <a:rPr lang="en-US" altLang="zh-TW" sz="2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Algorithm</a:t>
            </a:r>
          </a:p>
          <a:p>
            <a:r>
              <a:rPr lang="en-US" altLang="zh-TW" sz="2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2.</a:t>
            </a:r>
            <a:r>
              <a:rPr lang="zh-TW" altLang="en-US" sz="2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以</a:t>
            </a:r>
            <a:r>
              <a:rPr lang="en-US" altLang="zh-TW" sz="2000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Python</a:t>
            </a:r>
            <a:r>
              <a:rPr lang="zh-TW" altLang="en-US" sz="2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執行</a:t>
            </a:r>
            <a:r>
              <a:rPr lang="en-US" altLang="zh-TW" sz="2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/>
            </a:r>
            <a:br>
              <a:rPr lang="en-US" altLang="zh-TW" sz="2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zh-TW" altLang="en-US" sz="2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使用工具</a:t>
            </a:r>
            <a:r>
              <a:rPr lang="en-US" altLang="zh-TW" sz="2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  <a:r>
              <a:rPr lang="en-US" altLang="zh-TW" sz="2000" b="1" dirty="0" smtClean="0">
                <a:solidFill>
                  <a:srgbClr val="FFFF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Google </a:t>
            </a:r>
            <a:r>
              <a:rPr lang="en-US" altLang="zh-TW" sz="2000" b="1" dirty="0" err="1" smtClean="0">
                <a:solidFill>
                  <a:srgbClr val="FFFF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Colab</a:t>
            </a:r>
            <a:r>
              <a:rPr lang="en-US" altLang="zh-TW" sz="2000" b="1" dirty="0" smtClean="0">
                <a:solidFill>
                  <a:srgbClr val="FFC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&amp; </a:t>
            </a:r>
            <a:r>
              <a:rPr lang="en-US" altLang="zh-TW" sz="2000" b="1" dirty="0" err="1" smtClean="0">
                <a:solidFill>
                  <a:srgbClr val="FFC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VSCode</a:t>
            </a:r>
            <a:endParaRPr lang="en-US" altLang="zh-TW" sz="2000" b="1" dirty="0" smtClean="0">
              <a:solidFill>
                <a:srgbClr val="FFC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TW" sz="2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3.</a:t>
            </a:r>
            <a:r>
              <a:rPr lang="zh-TW" altLang="en-US" sz="2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有些以</a:t>
            </a:r>
            <a:r>
              <a:rPr lang="en-US" altLang="zh-TW" sz="2000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Excel</a:t>
            </a:r>
            <a:r>
              <a:rPr lang="zh-TW" altLang="en-US" sz="2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來計算</a:t>
            </a:r>
            <a:r>
              <a:rPr lang="en-US" altLang="zh-TW" sz="2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endParaRPr lang="zh-TW" altLang="en-US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41660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zh-TW" altLang="en-US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課程焦點</a:t>
            </a:r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三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(6</a:t>
            </a:r>
            <a:r>
              <a:rPr lang="zh-TW" altLang="en-US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週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):</a:t>
            </a:r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善用</a:t>
            </a:r>
            <a:r>
              <a:rPr lang="en-US" altLang="zh-TW" dirty="0" err="1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Kaggle</a:t>
            </a:r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網站</a:t>
            </a:r>
            <a:endParaRPr lang="zh-TW" altLang="en-US" dirty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114909" y="1949569"/>
            <a:ext cx="7962182" cy="3536831"/>
          </a:xfrm>
        </p:spPr>
        <p:txBody>
          <a:bodyPr>
            <a:normAutofit fontScale="92500" lnSpcReduction="20000"/>
          </a:bodyPr>
          <a:lstStyle/>
          <a:p>
            <a:r>
              <a:rPr lang="en-US" altLang="zh-TW" dirty="0" err="1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Kaggle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網站</a:t>
            </a:r>
            <a:endParaRPr lang="en-US" altLang="zh-TW" dirty="0" smtClean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是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一個數據建模和數據分析競賽平台</a:t>
            </a:r>
          </a:p>
          <a:p>
            <a:pPr lvl="1"/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提供大量的數據 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+ 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範例程式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學習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Python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範例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程式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解讀分析圖表能力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zh-TW" altLang="en-US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現在就開始</a:t>
            </a:r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熟悉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Google </a:t>
            </a:r>
            <a:r>
              <a:rPr lang="en-US" altLang="zh-TW" dirty="0" err="1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C</a:t>
            </a:r>
            <a:r>
              <a:rPr lang="en-US" altLang="zh-TW" dirty="0" err="1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olaboratory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+ VS Code</a:t>
            </a:r>
          </a:p>
          <a:p>
            <a:pPr lvl="2"/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Python</a:t>
            </a:r>
            <a:endParaRPr lang="en-US" altLang="zh-TW" dirty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多思考</a:t>
            </a:r>
            <a:r>
              <a:rPr lang="zh-TW" altLang="en-US" dirty="0" smtClean="0">
                <a:solidFill>
                  <a:srgbClr val="0000FF"/>
                </a:solidFill>
                <a:latin typeface="PMingLiU" panose="02020500000000000000" pitchFamily="18" charset="-120"/>
                <a:ea typeface="PMingLiU" panose="02020500000000000000" pitchFamily="18" charset="-120"/>
              </a:rPr>
              <a:t>、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多蒐尋</a:t>
            </a:r>
            <a:r>
              <a:rPr lang="zh-TW" altLang="en-US" dirty="0">
                <a:solidFill>
                  <a:srgbClr val="0000FF"/>
                </a:solidFill>
                <a:latin typeface="PMingLiU" panose="02020500000000000000" pitchFamily="18" charset="-120"/>
                <a:ea typeface="PMingLiU" panose="02020500000000000000" pitchFamily="18" charset="-120"/>
              </a:rPr>
              <a:t>、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善用各種工具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/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網站</a:t>
            </a:r>
            <a:endParaRPr lang="en-US" altLang="zh-TW" dirty="0" smtClean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en-US" altLang="zh-TW" dirty="0" err="1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eWant</a:t>
            </a:r>
            <a:r>
              <a:rPr lang="en-US" altLang="zh-TW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, W3school</a:t>
            </a:r>
            <a:r>
              <a:rPr lang="zh-TW" altLang="en-US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endParaRPr lang="en-US" altLang="zh-TW" dirty="0" smtClean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自己有興趣的主題</a:t>
            </a:r>
            <a:r>
              <a:rPr lang="zh-TW" altLang="en-US" dirty="0">
                <a:solidFill>
                  <a:srgbClr val="0000FF"/>
                </a:solidFill>
                <a:latin typeface="PMingLiU" panose="02020500000000000000" pitchFamily="18" charset="-120"/>
                <a:ea typeface="PMingLiU" panose="02020500000000000000" pitchFamily="18" charset="-120"/>
              </a:rPr>
              <a:t>、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重要的主題</a:t>
            </a:r>
            <a:r>
              <a:rPr lang="zh-TW" altLang="en-US" dirty="0">
                <a:solidFill>
                  <a:srgbClr val="0000FF"/>
                </a:solidFill>
                <a:latin typeface="PMingLiU" panose="02020500000000000000" pitchFamily="18" charset="-120"/>
                <a:ea typeface="PMingLiU" panose="02020500000000000000" pitchFamily="18" charset="-120"/>
              </a:rPr>
              <a:t>、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下課後用心研究瞭解</a:t>
            </a:r>
            <a:endParaRPr lang="en-US" altLang="zh-TW" dirty="0" smtClean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" name="圓角矩形 3"/>
          <p:cNvSpPr/>
          <p:nvPr/>
        </p:nvSpPr>
        <p:spPr>
          <a:xfrm>
            <a:off x="2114910" y="5588264"/>
            <a:ext cx="7962181" cy="92302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資料探勘工具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  <a:b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SPSS</a:t>
            </a:r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、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SAS</a:t>
            </a:r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、 </a:t>
            </a:r>
            <a:r>
              <a:rPr lang="en-US" altLang="zh-TW" dirty="0" err="1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RapidMinar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、 </a:t>
            </a:r>
            <a:r>
              <a:rPr lang="en-US" altLang="zh-TW" dirty="0" smtClean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Python</a:t>
            </a:r>
            <a:r>
              <a:rPr lang="zh-TW" altLang="en-US" dirty="0" smtClean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、 </a:t>
            </a:r>
            <a:r>
              <a:rPr lang="en-US" altLang="zh-TW" dirty="0" smtClean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SQL</a:t>
            </a:r>
            <a:r>
              <a:rPr lang="zh-TW" altLang="en-US" dirty="0" smtClean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、 </a:t>
            </a:r>
            <a:r>
              <a:rPr lang="en-US" altLang="zh-TW" dirty="0" smtClean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Excel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zh-TW" altLang="en-US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、</a:t>
            </a:r>
            <a:r>
              <a:rPr lang="en-US" altLang="zh-TW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R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語言</a:t>
            </a:r>
            <a:endParaRPr lang="zh-TW" altLang="en-US" dirty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9909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106508"/>
            <a:ext cx="10515600" cy="789420"/>
          </a:xfrm>
        </p:spPr>
        <p:txBody>
          <a:bodyPr/>
          <a:lstStyle/>
          <a:p>
            <a:pPr algn="ctr"/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課程訊息發布</a:t>
            </a:r>
            <a:endParaRPr lang="zh-TW" altLang="en-US" dirty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90418" y="966644"/>
            <a:ext cx="10515600" cy="2857211"/>
          </a:xfrm>
        </p:spPr>
        <p:txBody>
          <a:bodyPr/>
          <a:lstStyle/>
          <a:p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LINE</a:t>
            </a:r>
            <a:r>
              <a:rPr lang="zh-TW" altLang="en-US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群組名為</a:t>
            </a:r>
            <a:r>
              <a:rPr lang="en-US" altLang="zh-TW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: 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114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資料探勘</a:t>
            </a:r>
            <a:endParaRPr lang="en-US" altLang="zh-TW" dirty="0" smtClean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課程問題找不到老師的可以先找小老師洽詢</a:t>
            </a:r>
            <a:endParaRPr lang="en-US" altLang="zh-TW" dirty="0" smtClean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使用課本</a:t>
            </a:r>
            <a:endParaRPr lang="en-US" altLang="zh-TW" dirty="0" smtClean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上課內容雲端連接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: 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Google Classroom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5361" y="3357171"/>
            <a:ext cx="2498563" cy="3386402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5045" y="3353378"/>
            <a:ext cx="1993793" cy="3390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6065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175434"/>
            <a:ext cx="10515600" cy="1092650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期末報告規定</a:t>
            </a:r>
            <a:endParaRPr lang="zh-TW" altLang="en-US" dirty="0"/>
          </a:p>
        </p:txBody>
      </p:sp>
      <p:sp>
        <p:nvSpPr>
          <p:cNvPr id="4" name="矩形 3"/>
          <p:cNvSpPr/>
          <p:nvPr/>
        </p:nvSpPr>
        <p:spPr>
          <a:xfrm>
            <a:off x="838201" y="1500996"/>
            <a:ext cx="10515600" cy="52017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報告的規定如下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</a:p>
          <a:p>
            <a:pPr algn="ctr"/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3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人一組的請至少報告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/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說明 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5 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個成果 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圖表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/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預測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/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分析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/...)</a:t>
            </a:r>
          </a:p>
          <a:p>
            <a:pPr algn="ctr"/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2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人一組的請至少報告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/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說明 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4 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個成果 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圖表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/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預測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/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分析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/...)</a:t>
            </a:r>
          </a:p>
          <a:p>
            <a:pPr algn="ctr"/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1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人一組的請至少報告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/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說明 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3 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個成果 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圖表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/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預測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/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分析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/...)</a:t>
            </a:r>
          </a:p>
          <a:p>
            <a:pPr algn="ctr"/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-</a:t>
            </a:r>
          </a:p>
          <a:p>
            <a:pPr algn="ctr"/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每一組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: PPT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說明 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- 6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分鐘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, 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程式執行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/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說明 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- 6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分鐘</a:t>
            </a:r>
            <a:r>
              <a:rPr lang="en-US" altLang="zh-TW" sz="2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lang="zh-TW" altLang="en-US" sz="2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給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老師及同學 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3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分鐘</a:t>
            </a:r>
            <a:r>
              <a:rPr lang="zh-TW" altLang="en-US" sz="2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提問 </a:t>
            </a:r>
            <a:r>
              <a:rPr lang="en-US" altLang="zh-TW" sz="2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2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預設</a:t>
            </a:r>
            <a:r>
              <a:rPr lang="en-US" altLang="zh-TW" sz="2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15</a:t>
            </a:r>
            <a:r>
              <a:rPr lang="zh-TW" altLang="en-US" sz="2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分鐘</a:t>
            </a:r>
            <a:r>
              <a:rPr lang="en-US" altLang="zh-TW" sz="2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endParaRPr lang="zh-TW" altLang="en-US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ctr"/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每一組報告時間不得少於 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8 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分鐘</a:t>
            </a:r>
          </a:p>
          <a:p>
            <a:pPr algn="ctr"/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每一組報告時間不得大於 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20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分鐘</a:t>
            </a:r>
          </a:p>
          <a:p>
            <a:pPr algn="ctr"/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每一位都必須講話</a:t>
            </a:r>
          </a:p>
          <a:p>
            <a:pPr algn="ctr"/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沒講話的老師所有的問題都會指定他回答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, 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回答又不出來的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, 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會考慮給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0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分</a:t>
            </a:r>
          </a:p>
          <a:p>
            <a:pPr algn="ctr"/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-</a:t>
            </a:r>
          </a:p>
          <a:p>
            <a:pPr algn="ctr"/>
            <a:r>
              <a:rPr lang="zh-TW" altLang="en-US" sz="2000" u="sng" dirty="0">
                <a:latin typeface="標楷體" panose="03000509000000000000" pitchFamily="65" charset="-120"/>
                <a:ea typeface="標楷體" panose="03000509000000000000" pitchFamily="65" charset="-120"/>
              </a:rPr>
              <a:t>報告</a:t>
            </a:r>
            <a:r>
              <a:rPr lang="en-US" altLang="zh-TW" sz="2000" u="sng" dirty="0">
                <a:latin typeface="標楷體" panose="03000509000000000000" pitchFamily="65" charset="-120"/>
                <a:ea typeface="標楷體" panose="03000509000000000000" pitchFamily="65" charset="-120"/>
              </a:rPr>
              <a:t>PPT</a:t>
            </a:r>
            <a:r>
              <a:rPr lang="zh-TW" altLang="en-US" sz="2000" u="sng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時</a:t>
            </a:r>
            <a:r>
              <a:rPr lang="en-US" altLang="zh-TW" sz="2000" u="sng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 - </a:t>
            </a:r>
            <a:r>
              <a:rPr lang="zh-TW" altLang="en-US" sz="2000" u="sng" dirty="0">
                <a:latin typeface="標楷體" panose="03000509000000000000" pitchFamily="65" charset="-120"/>
                <a:ea typeface="標楷體" panose="03000509000000000000" pitchFamily="65" charset="-120"/>
              </a:rPr>
              <a:t>務必讓台下聽眾聽得懂你說的圖表成果內容</a:t>
            </a:r>
            <a:r>
              <a:rPr lang="en-US" altLang="zh-TW" sz="2000" u="sng" dirty="0">
                <a:latin typeface="標楷體" panose="03000509000000000000" pitchFamily="65" charset="-120"/>
                <a:ea typeface="標楷體" panose="03000509000000000000" pitchFamily="65" charset="-120"/>
              </a:rPr>
              <a:t>, </a:t>
            </a:r>
            <a:r>
              <a:rPr lang="zh-TW" altLang="en-US" sz="2000" u="sng" dirty="0">
                <a:latin typeface="標楷體" panose="03000509000000000000" pitchFamily="65" charset="-120"/>
                <a:ea typeface="標楷體" panose="03000509000000000000" pitchFamily="65" charset="-120"/>
              </a:rPr>
              <a:t>說得清楚的</a:t>
            </a:r>
            <a:r>
              <a:rPr lang="en-US" altLang="zh-TW" sz="2000" u="sng" dirty="0">
                <a:latin typeface="標楷體" panose="03000509000000000000" pitchFamily="65" charset="-120"/>
                <a:ea typeface="標楷體" panose="03000509000000000000" pitchFamily="65" charset="-120"/>
              </a:rPr>
              <a:t>, </a:t>
            </a:r>
            <a:r>
              <a:rPr lang="zh-TW" altLang="en-US" sz="2000" u="sng" dirty="0">
                <a:latin typeface="標楷體" panose="03000509000000000000" pitchFamily="65" charset="-120"/>
                <a:ea typeface="標楷體" panose="03000509000000000000" pitchFamily="65" charset="-120"/>
              </a:rPr>
              <a:t>分數愈高</a:t>
            </a:r>
          </a:p>
          <a:p>
            <a:pPr algn="ctr"/>
            <a:r>
              <a:rPr lang="zh-TW" altLang="en-US" sz="2000" u="sng" dirty="0">
                <a:latin typeface="標楷體" panose="03000509000000000000" pitchFamily="65" charset="-120"/>
                <a:ea typeface="標楷體" panose="03000509000000000000" pitchFamily="65" charset="-120"/>
              </a:rPr>
              <a:t>說明程式</a:t>
            </a:r>
            <a:r>
              <a:rPr lang="zh-TW" altLang="en-US" sz="2000" u="sng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時 </a:t>
            </a:r>
            <a:r>
              <a:rPr lang="en-US" altLang="zh-TW" sz="2000" u="sng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- </a:t>
            </a:r>
            <a:r>
              <a:rPr lang="zh-TW" altLang="en-US" sz="2000" u="sng" dirty="0">
                <a:latin typeface="標楷體" panose="03000509000000000000" pitchFamily="65" charset="-120"/>
                <a:ea typeface="標楷體" panose="03000509000000000000" pitchFamily="65" charset="-120"/>
              </a:rPr>
              <a:t>先告訴大家這一區塊程式在作什麼</a:t>
            </a:r>
            <a:r>
              <a:rPr lang="en-US" altLang="zh-TW" sz="2000" u="sng" dirty="0">
                <a:latin typeface="標楷體" panose="03000509000000000000" pitchFamily="65" charset="-120"/>
                <a:ea typeface="標楷體" panose="03000509000000000000" pitchFamily="65" charset="-120"/>
              </a:rPr>
              <a:t>, </a:t>
            </a:r>
            <a:r>
              <a:rPr lang="zh-TW" altLang="en-US" sz="2000" u="sng" dirty="0">
                <a:latin typeface="標楷體" panose="03000509000000000000" pitchFamily="65" charset="-120"/>
                <a:ea typeface="標楷體" panose="03000509000000000000" pitchFamily="65" charset="-120"/>
              </a:rPr>
              <a:t>然後執行</a:t>
            </a:r>
            <a:r>
              <a:rPr lang="en-US" altLang="zh-TW" sz="2000" u="sng" dirty="0">
                <a:latin typeface="標楷體" panose="03000509000000000000" pitchFamily="65" charset="-120"/>
                <a:ea typeface="標楷體" panose="03000509000000000000" pitchFamily="65" charset="-120"/>
              </a:rPr>
              <a:t>, </a:t>
            </a:r>
            <a:r>
              <a:rPr lang="zh-TW" altLang="en-US" sz="2000" u="sng" dirty="0">
                <a:latin typeface="標楷體" panose="03000509000000000000" pitchFamily="65" charset="-120"/>
                <a:ea typeface="標楷體" panose="03000509000000000000" pitchFamily="65" charset="-120"/>
              </a:rPr>
              <a:t>然後再說明程式細節</a:t>
            </a:r>
          </a:p>
          <a:p>
            <a:pPr algn="ctr"/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程式說得愈仔細分數愈高</a:t>
            </a:r>
          </a:p>
          <a:p>
            <a:pPr algn="ctr"/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-</a:t>
            </a:r>
          </a:p>
          <a:p>
            <a:pPr algn="ctr"/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報告前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, 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請列一份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PPT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紙本給老師 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一頁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: 2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張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</a:p>
          <a:p>
            <a:pPr algn="ctr"/>
            <a:r>
              <a:rPr lang="zh-TW" altLang="en-US" sz="2000" strike="dblStrike" dirty="0">
                <a:latin typeface="標楷體" panose="03000509000000000000" pitchFamily="65" charset="-120"/>
                <a:ea typeface="標楷體" panose="03000509000000000000" pitchFamily="65" charset="-120"/>
              </a:rPr>
              <a:t>報告後</a:t>
            </a:r>
            <a:r>
              <a:rPr lang="en-US" altLang="zh-TW" sz="2000" strike="dblStrike" dirty="0">
                <a:latin typeface="標楷體" panose="03000509000000000000" pitchFamily="65" charset="-120"/>
                <a:ea typeface="標楷體" panose="03000509000000000000" pitchFamily="65" charset="-120"/>
              </a:rPr>
              <a:t>, </a:t>
            </a:r>
            <a:r>
              <a:rPr lang="zh-TW" altLang="en-US" sz="2000" strike="dblStrike" dirty="0">
                <a:latin typeface="標楷體" panose="03000509000000000000" pitchFamily="65" charset="-120"/>
                <a:ea typeface="標楷體" panose="03000509000000000000" pitchFamily="65" charset="-120"/>
              </a:rPr>
              <a:t>將你的</a:t>
            </a:r>
            <a:r>
              <a:rPr lang="en-US" altLang="zh-TW" sz="2000" strike="dblStrike" dirty="0">
                <a:latin typeface="標楷體" panose="03000509000000000000" pitchFamily="65" charset="-120"/>
                <a:ea typeface="標楷體" panose="03000509000000000000" pitchFamily="65" charset="-120"/>
              </a:rPr>
              <a:t>PPT LINE</a:t>
            </a:r>
            <a:r>
              <a:rPr lang="zh-TW" altLang="en-US" sz="2000" strike="dblStrike" dirty="0">
                <a:latin typeface="標楷體" panose="03000509000000000000" pitchFamily="65" charset="-120"/>
                <a:ea typeface="標楷體" panose="03000509000000000000" pitchFamily="65" charset="-120"/>
              </a:rPr>
              <a:t>給老師</a:t>
            </a:r>
          </a:p>
        </p:txBody>
      </p:sp>
    </p:spTree>
    <p:extLst>
      <p:ext uri="{BB962C8B-B14F-4D97-AF65-F5344CB8AC3E}">
        <p14:creationId xmlns:p14="http://schemas.microsoft.com/office/powerpoint/2010/main" val="9889173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/>
          <p:cNvSpPr>
            <a:spLocks noGrp="1"/>
          </p:cNvSpPr>
          <p:nvPr>
            <p:ph type="title"/>
          </p:nvPr>
        </p:nvSpPr>
        <p:spPr>
          <a:xfrm>
            <a:off x="838200" y="175434"/>
            <a:ext cx="10515600" cy="1092650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評分標準</a:t>
            </a:r>
            <a:endParaRPr lang="zh-TW" altLang="en-US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8837396"/>
              </p:ext>
            </p:extLst>
          </p:nvPr>
        </p:nvGraphicFramePr>
        <p:xfrm>
          <a:off x="838200" y="1407919"/>
          <a:ext cx="10515600" cy="51698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7437">
                  <a:extLst>
                    <a:ext uri="{9D8B030D-6E8A-4147-A177-3AD203B41FA5}">
                      <a16:colId xmlns:a16="http://schemas.microsoft.com/office/drawing/2014/main" val="2853746146"/>
                    </a:ext>
                  </a:extLst>
                </a:gridCol>
                <a:gridCol w="2645993">
                  <a:extLst>
                    <a:ext uri="{9D8B030D-6E8A-4147-A177-3AD203B41FA5}">
                      <a16:colId xmlns:a16="http://schemas.microsoft.com/office/drawing/2014/main" val="3945654286"/>
                    </a:ext>
                  </a:extLst>
                </a:gridCol>
                <a:gridCol w="3873270">
                  <a:extLst>
                    <a:ext uri="{9D8B030D-6E8A-4147-A177-3AD203B41FA5}">
                      <a16:colId xmlns:a16="http://schemas.microsoft.com/office/drawing/2014/main" val="175321926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164884116"/>
                    </a:ext>
                  </a:extLst>
                </a:gridCol>
              </a:tblGrid>
              <a:tr h="574429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大分類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項目內容</a:t>
                      </a:r>
                      <a:endParaRPr lang="zh-TW" altLang="en-US" sz="2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5612069"/>
                  </a:ext>
                </a:extLst>
              </a:tr>
              <a:tr h="57442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A</a:t>
                      </a:r>
                      <a:endParaRPr lang="zh-TW" altLang="en-US" sz="2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PPT  (50</a:t>
                      </a:r>
                      <a:r>
                        <a:rPr lang="zh-TW" altLang="en-US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分</a:t>
                      </a:r>
                      <a:r>
                        <a:rPr lang="en-US" altLang="zh-TW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)</a:t>
                      </a:r>
                      <a:endParaRPr lang="zh-TW" altLang="en-US" sz="2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內容、舖陳、敘述</a:t>
                      </a:r>
                      <a:endParaRPr lang="zh-TW" altLang="en-US" sz="2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15</a:t>
                      </a:r>
                      <a:r>
                        <a:rPr lang="zh-TW" altLang="en-US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分</a:t>
                      </a:r>
                      <a:endParaRPr lang="zh-TW" altLang="en-US" sz="2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5503414"/>
                  </a:ext>
                </a:extLst>
              </a:tr>
              <a:tr h="574429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圖表說明</a:t>
                      </a:r>
                      <a:endParaRPr lang="zh-TW" altLang="en-US" sz="2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15</a:t>
                      </a:r>
                      <a:r>
                        <a:rPr lang="zh-TW" altLang="en-US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分</a:t>
                      </a:r>
                      <a:endParaRPr lang="zh-TW" altLang="en-US" sz="2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2210398"/>
                  </a:ext>
                </a:extLst>
              </a:tr>
              <a:tr h="574429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口語表達</a:t>
                      </a:r>
                      <a:endParaRPr lang="zh-TW" altLang="en-US" sz="2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10</a:t>
                      </a:r>
                      <a:r>
                        <a:rPr lang="zh-TW" altLang="en-US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分</a:t>
                      </a:r>
                      <a:endParaRPr lang="zh-TW" altLang="en-US" sz="2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1475183"/>
                  </a:ext>
                </a:extLst>
              </a:tr>
              <a:tr h="574429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簡報效果</a:t>
                      </a:r>
                      <a:endParaRPr lang="zh-TW" altLang="en-US" sz="2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10</a:t>
                      </a:r>
                      <a:r>
                        <a:rPr lang="zh-TW" altLang="en-US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分</a:t>
                      </a:r>
                      <a:endParaRPr lang="zh-TW" altLang="en-US" sz="2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7324389"/>
                  </a:ext>
                </a:extLst>
              </a:tr>
              <a:tr h="57442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B</a:t>
                      </a:r>
                      <a:endParaRPr lang="zh-TW" altLang="en-US" sz="2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程式 </a:t>
                      </a:r>
                      <a:r>
                        <a:rPr lang="en-US" altLang="zh-TW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(30</a:t>
                      </a:r>
                      <a:r>
                        <a:rPr lang="zh-TW" altLang="en-US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分</a:t>
                      </a:r>
                      <a:r>
                        <a:rPr lang="en-US" altLang="zh-TW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)</a:t>
                      </a:r>
                      <a:endParaRPr lang="zh-TW" altLang="en-US" sz="2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熟悉度</a:t>
                      </a:r>
                      <a:endParaRPr lang="zh-TW" altLang="en-US" sz="2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15</a:t>
                      </a:r>
                      <a:r>
                        <a:rPr lang="zh-TW" altLang="en-US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分</a:t>
                      </a:r>
                      <a:endParaRPr lang="zh-TW" altLang="en-US" sz="2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3247994"/>
                  </a:ext>
                </a:extLst>
              </a:tr>
              <a:tr h="574429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說明</a:t>
                      </a:r>
                      <a:endParaRPr lang="zh-TW" altLang="en-US" sz="2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15</a:t>
                      </a:r>
                      <a:r>
                        <a:rPr lang="zh-TW" altLang="en-US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分</a:t>
                      </a:r>
                      <a:endParaRPr lang="zh-TW" altLang="en-US" sz="2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7012756"/>
                  </a:ext>
                </a:extLst>
              </a:tr>
              <a:tr h="57442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C</a:t>
                      </a:r>
                      <a:endParaRPr lang="zh-TW" altLang="en-US" sz="2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Q&amp;A</a:t>
                      </a:r>
                      <a:r>
                        <a:rPr lang="zh-TW" altLang="en-US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 </a:t>
                      </a:r>
                      <a:r>
                        <a:rPr lang="en-US" altLang="zh-TW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(10)</a:t>
                      </a:r>
                      <a:endParaRPr lang="zh-TW" altLang="en-US" sz="2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反應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10</a:t>
                      </a:r>
                      <a:r>
                        <a:rPr lang="zh-TW" altLang="en-US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分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6091557"/>
                  </a:ext>
                </a:extLst>
              </a:tr>
              <a:tr h="57442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D</a:t>
                      </a:r>
                      <a:endParaRPr lang="zh-TW" altLang="en-US" sz="2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小組 </a:t>
                      </a:r>
                      <a:r>
                        <a:rPr lang="en-US" altLang="zh-TW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(10)</a:t>
                      </a:r>
                      <a:endParaRPr lang="zh-TW" altLang="en-US" sz="2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分工、合作、互動</a:t>
                      </a:r>
                      <a:endParaRPr lang="zh-TW" altLang="en-US" sz="2400" dirty="0" smtClean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10</a:t>
                      </a:r>
                      <a:r>
                        <a:rPr lang="zh-TW" altLang="en-US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分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99625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2570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1900</TotalTime>
  <Words>817</Words>
  <Application>Microsoft Office PowerPoint</Application>
  <PresentationFormat>寬螢幕</PresentationFormat>
  <Paragraphs>121</Paragraphs>
  <Slides>10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7" baseType="lpstr">
      <vt:lpstr>新細明體</vt:lpstr>
      <vt:lpstr>新細明體</vt:lpstr>
      <vt:lpstr>標楷體</vt:lpstr>
      <vt:lpstr>Arial</vt:lpstr>
      <vt:lpstr>Calibri</vt:lpstr>
      <vt:lpstr>Calibri Light</vt:lpstr>
      <vt:lpstr>Office 佈景主題</vt:lpstr>
      <vt:lpstr>課堂規定、成績評量標準 及金</vt:lpstr>
      <vt:lpstr>資料探勘 Data Mining 1.課堂規定</vt:lpstr>
      <vt:lpstr>PowerPoint 簡報</vt:lpstr>
      <vt:lpstr>3.課程設計</vt:lpstr>
      <vt:lpstr>課程焦點一(4週):什麼是資料探勘 </vt:lpstr>
      <vt:lpstr>課程焦點二(8週):機器學習演算法</vt:lpstr>
      <vt:lpstr>課程焦點三(6週):善用Kaggle網站</vt:lpstr>
      <vt:lpstr>課程訊息發布</vt:lpstr>
      <vt:lpstr>期末報告規定</vt:lpstr>
      <vt:lpstr>評分標準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課堂規定</dc:title>
  <dc:creator>USER</dc:creator>
  <cp:lastModifiedBy>hp</cp:lastModifiedBy>
  <cp:revision>101</cp:revision>
  <dcterms:created xsi:type="dcterms:W3CDTF">2023-02-10T08:39:17Z</dcterms:created>
  <dcterms:modified xsi:type="dcterms:W3CDTF">2026-07-11T14:44:07Z</dcterms:modified>
</cp:coreProperties>
</file>